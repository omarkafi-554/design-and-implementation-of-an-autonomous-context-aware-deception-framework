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 id="266"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22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نقدّم لكم مشروع تخرج 1 بعنوان: تصميم وتنفيذ إطار خداع ذاتي وواعٍ بالسياق. سنعرض في هذا السيمنار الهدف من المشروع، والدراسات المرجعية، والمراحل المنفذة سابقاً، وطريقة عمل النظام، ثم ما أنجزناه حتى نهاية الأسبوع الثاني وخطة العمل لبقية الفصل.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لها ثلاثة جوانب. أولاً، المصائد التقليدية ثابتة، فتعطي نفس الردود دائماً ويتعلّم المهاجم كيف يكتشفها. ثانياً، توضع المصائد دون النظر إلى الخدمات المكشوفة فعلياً على الجهاز. ثالثاً، لا يوجد تمييز لحظي بين البوت والمهاجم البشري. هدفنا نظام يختار المصيدة المناسبة لكل مهاجم ويشغّلها تلقائياً، بالاعتماد على مدخلين: سطح الهجوم الخاص بالجهاز ونوع المهاجم. كما يغيّر المصائد باستمرار ويسجّل سبب كل قرار. المرحلة الحالية من المشروع هي محرك الاستجابة التكيفي والدفاع بالأهداف المتحركة.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الدراسة المرجعية هي Q-Cowrie المنشورة عام 2026 في مجلة Information Security. تقدّم مصيدة Cowrie تكيفية تعتمد على التعلم المعزز Q-learning. لكن الدراسة نفسها تركت ثلاث نقاط مفتوحة: يمكن اكتشاف المصيدة، ولا يوجد تصنيف لنوع المهاجم، ولا يوجد تفسير للقرارات. هذه النقاط هي نطاق مشروعنا. بقية الجدول توضّح ماذا أخذنا من كل دراسة حديثة، مثلاً: المهاجمون يكتشفون المصائد الثابتة، لذلك نستخدم حاويات تتغير. والنماذج اللغوية الصغيرة بطيئة، لذلك نولّد المحتوى مسبقاً. المراجعة الكاملة لعشر دراسات موجودة في التقرير.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الفصل السابق (مشروع الفصل) بنينا البنية التحتية للمشروع: مختبر معزول على VMware فيه جهاز Ubuntu للدفاع وجهاز Kali للهجوم، ومراقبة الشبكة بأداة Zeek، ومصيدة Cowrie مع تحويل المنفذ 22 إلى 2222، وتحليل سطح الهجوم باستخدام Nmap، وأول مصنّف للتمييز بين البوت والإنسان. ونتج عن هذه المرحلة: تقرير بسطح الهجوم للجهاز، وسجلات منظّمة لكل جلسة من Cowrie و Zeek، وجلسات مختبر مصنّفة لبوتات ومشاركين بشر، ومصنّف أولي يعمل. هذه المرحلة هي التي تزوّد تخرج 1 بالبيانات وبقرار المصنّف.</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المخطط يوضّح عمل النظام من البداية حتى نهاية تخرج 1. الأرقام تبيّن ترتيب العمليات: 1. المهاجم من جهاز Kali يتصل بالجهاز المحمي عبر SSH أو يقوم بمسح المنافذ. 2. جدار الحماية Netfilter يحوّل اتصال SSH إلى المصيدة Cowrie، وفي الوقت نفسه يراقب Zeek كل الحركة. 3. أول ثلاثة أوامر يكتبها المهاجم تُرسل إلى المصنّف، فيقرر: بوت أم إنسان. 4. المنظّم (Orchestrator) يجمع قرار المصنّف مع نتيجة تحليل سطح الهجوم ومع محاولات الفحص التي يرصدها Zeek، ثم يقرر الاستجابة. 5. مدير المصائد يشغّل حاوية Docker معزولة (SSH أو Web أو SQL). مصيدة SSH مبنية على نفس إصدار الجهاز (Ubuntu 22.04) وتحمل نفس هوية Cowrie: اسم الجهاز والنواة ومفاتيح SSH وسطر النسخة، ويُنشأ فيها حساب المهاجم بنفس كلمة السر التي دخل بها إلى Cowrie قبل التحويل. 6. يضيف الـ Redirector قاعدة DNAT، فتذهب الاتصالات التالية للمهاجم إلى المصيدة دون أن يلاحظ. 7. يتغيّر محتوى المصائد دورياً (MTD): الملفات وبيانات الدخول الطُّعم والحسابات والمنافذ المراقبة، أما هوية الجهاز فتبقى ثابتة، والمهاجم الواحد يبقى على نفس الملف طوال زيارته، ويُسجَّل كل قرار في قاعدة بيانات SQLite. شبكة المصائد معزولة بالكامل: لا يوجد NAT، والاتصال الخارجي و DNS ممنوعان.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ينفَّذ المشروع على سبع مراحل متتالية. الرصد: يسجّل Cowrie و Zeek كل ما يفعله المهاجم. التصنيف: بعد ثلاثة أوامر يقرر النموذج إن كان المهاجم بوتاً أم إنساناً. القرار: يختار المنظّم الاستجابة المناسبة بالاعتماد على سطح الهجوم. ثم الاستجابة: تشغيل مصيدة Docker معزولة، وتحويل الاتصالات التالية للمهاجم إليها بقواعد DNAT، وتغيير محتوى المصائد مع الوقت (الملفات والحسابات والمنافذ) مع بقاء هوية الجهاز ثابتة، وأخيراً تسجيل كل قرار مع أدلته. المراحل الثلاث الأولى تعمل حالياً، والمراحل من الرابعة إلى السابعة نبنيها خلال هذا الفصل.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الجدول يلخّص الأدوات المستخدمة ومتى استُخدمت. في الفصل السابق: بيئة VMware مع Ubuntu Server و Kali، وأداتا Zeek و Nmap للمراقبة والفحص، ومصيدة Cowrie، ولغة Python مع مكتبات التعلم الآلي. في تخرج 1 أضفنا: Docker لتشغيل المصائد والتحكم بها من Python، و llama.cpp لتشغيل نموذج لغوي صغير محلياً لتوليد المحتوى الوهمي، و SQLite لتسجيل القرارات.</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ما أنجزناه حتى الآن في تخرج 1. في الجانب البحثي: أجرينا الدراسة المرجعية لدراسات حديثة من 2025 و 2026، واعتمدنا مجموعتي بيانات خارجيتين منشورتين للاختبار: COW160x4 للبوتات و KYPO للبشر. ثم راجعنا المصنّف: أزلنا أخطاء التسجيل، وأصبح القرار عند الأمر الثالث. والنموذج النهائي هو تصويت الأغلبية بين ثلاثة نماذج، جمّدناه ثم اختبرناه على البيانات الخارجية. في الجانب البرمجي: حوّلنا المصنّف إلى وحدة برمجية تتحقق من بصمة النموذج، وصمّمنا المنظّم وقاعدة البيانات، وأصبح النظام يقرأ السجلات لحظياً ويصنّف الجلسات مباشرة، وجرّبناه من جهاز Kali مع اختبارات للوحدات. وفي التقرير أنهينا المقدمة والفصل الأول والفصل الثاني.</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خطة تخرج 1 على مدى أربعة عشر أسبوعاً. أنهينا أربعة أسابيع: في الأسبوع الأول أجرينا الدراسة المرجعية وكتبنا الفصل الأول من التقرير. في الثاني اعتمدنا مجموعات البيانات الخارجية ورسمنا المخططات وكتبنا الخوارزميات. في الثالث راجعنا المصنّف واعتمدنا النموذج النهائي. وفي الرابع حوّلنا المصنّف إلى وحدة برمجية وصمّمنا المنظّم وجعلنا النظام يعمل لحظياً. الأسبوع القادم نبني مكتبة المصائد باستخدام Docker ونحصّنها، ثم محرك القرار والتشكّل الذاتي، ثم تحويل الحركة، ثم تغيير محتوى المصائد (MTD) مع بقاء هوية الجهاز ثابتة، ثم توليد المحتوى بنموذج لغوي صغير، ثم الدمج والاختبارات والتقييم، وأخيراً كتابة الفصلين الثالث والرابع والتسليم.</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لحسن استماعكم، ويسعدنا الإجابة عن أسئلتكم. إذا سُئلتم عن النتائج: الأرقام النهائية ستُعرض بعد مرحلة التقييم. إذا سُئلتم لماذا مصيدة SSH مبنية على Ubuntu 22.04: لأن الحاوية تشارك الجهاز نواته، والمهاجم يرى نواة Ubuntu 22.04 الحقيقية، فبنينا المصيدة على نفس الإصدار وأعطيناها نفس هوية Cowrie (الاسم والنواة ومفاتيح SSH وسطر النسخة والحساب)، فلا يلاحظ المهاجم أي فرق عند التحويل. وإذا سُئلتم: ألا يكشف MTD المصيدة؟ لا، لأن MTD يغيّر المحتوى فقط بين الزيارات، ولا يغيّر هوية الجهاز.</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11200" y="388001"/>
            <a:ext cx="3000700" cy="379701"/>
          </a:xfrm>
          <a:prstGeom prst="rect">
            <a:avLst/>
          </a:prstGeom>
          <a:noFill/>
          <a:ln/>
        </p:spPr>
        <p:txBody>
          <a:bodyPr wrap="square" lIns="0" tIns="0" rIns="0" bIns="0" rtlCol="0" anchor="t"/>
          <a:lstStyle>
            <a:lvl1pPr marL="0" indent="0" algn="l">
              <a:lnSpc>
                <a:spcPct val="115000"/>
              </a:lnSpc>
              <a:buNone/>
              <a:defRPr lang="en-US" sz="2600" dirty="0">
                <a:solidFill>
                  <a:srgbClr val="1F3864"/>
                </a:solidFill>
                <a:latin typeface="Source Sans 3" pitchFamily="34" charset="0"/>
                <a:ea typeface="Source Sans 3" pitchFamily="34" charset="-122"/>
                <a:cs typeface="Source Sans 3"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711200" y="1072502"/>
            <a:ext cx="10668000" cy="4972698"/>
          </a:xfrm>
          <a:prstGeom prst="rect">
            <a:avLst/>
          </a:prstGeom>
          <a:noFill/>
          <a:ln/>
        </p:spPr>
        <p:txBody>
          <a:bodyPr wrap="square" lIns="0" tIns="0" rIns="0" bIns="0" rtlCol="0" anchor="t"/>
          <a:lstStyle>
            <a:lvl1pPr marL="0" indent="0" algn="l">
              <a:lnSpc>
                <a:spcPct val="140000"/>
              </a:lnSpc>
              <a:buNone/>
              <a:defRPr lang="en-US" sz="1600" dirty="0">
                <a:solidFill>
                  <a:srgbClr val="262626"/>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11200" y="388001"/>
            <a:ext cx="3000700" cy="379701"/>
          </a:xfrm>
          <a:prstGeom prst="rect">
            <a:avLst/>
          </a:prstGeom>
          <a:noFill/>
          <a:ln/>
        </p:spPr>
        <p:txBody>
          <a:bodyPr wrap="square" lIns="0" tIns="0" rIns="0" bIns="0" rtlCol="0" anchor="t"/>
          <a:lstStyle>
            <a:lvl1pPr marL="0" indent="0" algn="l">
              <a:lnSpc>
                <a:spcPct val="115000"/>
              </a:lnSpc>
              <a:buNone/>
              <a:defRPr lang="en-US" sz="2600" dirty="0">
                <a:solidFill>
                  <a:srgbClr val="1F3864"/>
                </a:solidFill>
                <a:latin typeface="Source Sans 3" pitchFamily="34" charset="0"/>
                <a:ea typeface="Source Sans 3" pitchFamily="34" charset="-122"/>
                <a:cs typeface="Source Sans 3"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711200" y="1072502"/>
            <a:ext cx="10668000" cy="4972698"/>
          </a:xfrm>
          <a:prstGeom prst="rect">
            <a:avLst/>
          </a:prstGeom>
          <a:noFill/>
          <a:ln/>
        </p:spPr>
        <p:txBody>
          <a:bodyPr wrap="square" lIns="0" tIns="0" rIns="0" bIns="0" rtlCol="0" anchor="t"/>
          <a:lstStyle>
            <a:lvl1pPr marL="0" indent="0" algn="l">
              <a:lnSpc>
                <a:spcPct val="140000"/>
              </a:lnSpc>
              <a:buNone/>
              <a:defRPr lang="en-US" sz="1600" dirty="0">
                <a:solidFill>
                  <a:srgbClr val="262626"/>
                </a:solidFill>
                <a:latin typeface="Source Sans 3" pitchFamily="34" charset="0"/>
                <a:ea typeface="Source Sans 3" pitchFamily="34" charset="-122"/>
                <a:cs typeface="Source Sans 3"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e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solidFill>
            <a:srgbClr val="1F3864"/>
          </a:solidFill>
          <a:ln/>
        </p:spPr>
        <p:txBody>
          <a:bodyPr/>
          <a:lstStyle/>
          <a:p>
            <a:endParaRPr lang="en-US"/>
          </a:p>
        </p:txBody>
      </p:sp>
      <p:sp>
        <p:nvSpPr>
          <p:cNvPr id="3" name="Shape 1"/>
          <p:cNvSpPr/>
          <p:nvPr/>
        </p:nvSpPr>
        <p:spPr>
          <a:xfrm>
            <a:off x="0" y="6807200"/>
            <a:ext cx="12192000" cy="50800"/>
          </a:xfrm>
          <a:prstGeom prst="rect">
            <a:avLst/>
          </a:prstGeom>
          <a:solidFill>
            <a:srgbClr val="C55A11"/>
          </a:solidFill>
          <a:ln/>
        </p:spPr>
        <p:txBody>
          <a:bodyPr/>
          <a:lstStyle/>
          <a:p>
            <a:endParaRPr lang="en-US"/>
          </a:p>
        </p:txBody>
      </p:sp>
      <p:pic>
        <p:nvPicPr>
          <p:cNvPr id="4" name="Image 0" descr="Syrian Private University logo"/>
          <p:cNvPicPr>
            <a:picLocks noChangeAspect="1"/>
          </p:cNvPicPr>
          <p:nvPr/>
        </p:nvPicPr>
        <p:blipFill>
          <a:blip r:embed="rId3"/>
          <a:srcRect l="-97" r="-97"/>
          <a:stretch/>
        </p:blipFill>
        <p:spPr>
          <a:xfrm>
            <a:off x="5010150" y="857322"/>
            <a:ext cx="2171700" cy="654050"/>
          </a:xfrm>
          <a:prstGeom prst="rect">
            <a:avLst/>
          </a:prstGeom>
        </p:spPr>
      </p:pic>
      <p:sp>
        <p:nvSpPr>
          <p:cNvPr id="5" name="Text 2"/>
          <p:cNvSpPr/>
          <p:nvPr/>
        </p:nvSpPr>
        <p:spPr>
          <a:xfrm>
            <a:off x="4590357" y="1638372"/>
            <a:ext cx="3011285" cy="345426"/>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1F3864"/>
                </a:solidFill>
                <a:latin typeface="Source Sans 3" pitchFamily="34" charset="0"/>
                <a:ea typeface="Source Sans 3" pitchFamily="34" charset="-122"/>
                <a:cs typeface="Source Sans 3" pitchFamily="34" charset="-120"/>
              </a:rPr>
              <a:t>Syrian Private University</a:t>
            </a:r>
            <a:endParaRPr lang="en-US" sz="1800" dirty="0"/>
          </a:p>
        </p:txBody>
      </p:sp>
      <p:sp>
        <p:nvSpPr>
          <p:cNvPr id="6" name="Text 3"/>
          <p:cNvSpPr/>
          <p:nvPr/>
        </p:nvSpPr>
        <p:spPr>
          <a:xfrm>
            <a:off x="4039387" y="2085398"/>
            <a:ext cx="4113155"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404040"/>
                </a:solidFill>
                <a:latin typeface="Source Sans 3" pitchFamily="34" charset="0"/>
                <a:ea typeface="Source Sans 3" pitchFamily="34" charset="-122"/>
                <a:cs typeface="Source Sans 3" pitchFamily="34" charset="-120"/>
              </a:rPr>
              <a:t>Faculty of Artificial Intelligence Engineering</a:t>
            </a:r>
            <a:endParaRPr lang="en-US" sz="1500" dirty="0"/>
          </a:p>
        </p:txBody>
      </p:sp>
      <p:sp>
        <p:nvSpPr>
          <p:cNvPr id="7" name="Text 4"/>
          <p:cNvSpPr/>
          <p:nvPr/>
        </p:nvSpPr>
        <p:spPr>
          <a:xfrm>
            <a:off x="3085234" y="2479098"/>
            <a:ext cx="6021532" cy="27427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595959"/>
                </a:solidFill>
                <a:latin typeface="Source Sans 3" pitchFamily="34" charset="0"/>
                <a:ea typeface="Source Sans 3" pitchFamily="34" charset="-122"/>
                <a:cs typeface="Source Sans 3" pitchFamily="34" charset="-120"/>
              </a:rPr>
              <a:t>Department of Intelligent Information Systems Security Engineering</a:t>
            </a:r>
            <a:endParaRPr lang="en-US" sz="1400" dirty="0"/>
          </a:p>
        </p:txBody>
      </p:sp>
      <p:sp>
        <p:nvSpPr>
          <p:cNvPr id="8" name="Text 5"/>
          <p:cNvSpPr>
            <a:spLocks noGrp="1"/>
          </p:cNvSpPr>
          <p:nvPr>
            <p:ph type="title"/>
          </p:nvPr>
        </p:nvSpPr>
        <p:spPr>
          <a:xfrm>
            <a:off x="1190625" y="3134375"/>
            <a:ext cx="9810750" cy="901700"/>
          </a:xfrm>
          <a:prstGeom prst="rect">
            <a:avLst/>
          </a:prstGeom>
          <a:noFill/>
          <a:ln/>
        </p:spPr>
        <p:txBody>
          <a:bodyPr wrap="square" lIns="0" tIns="0" rIns="0" bIns="0" rtlCol="0" anchor="t">
            <a:normAutofit/>
          </a:bodyPr>
          <a:lstStyle/>
          <a:p>
            <a:pPr marL="0" indent="0" algn="ctr">
              <a:lnSpc>
                <a:spcPts val="3450"/>
              </a:lnSpc>
              <a:buNone/>
            </a:pPr>
            <a:r>
              <a:rPr lang="en-US" sz="3000" b="1" i="0" dirty="0">
                <a:solidFill>
                  <a:srgbClr val="1F3864"/>
                </a:solidFill>
                <a:latin typeface="Source Sans 3" pitchFamily="34" charset="0"/>
                <a:ea typeface="Source Sans 3" pitchFamily="34" charset="-122"/>
                <a:cs typeface="Source Sans 3" pitchFamily="34" charset="-120"/>
              </a:rPr>
              <a:t>Design and Implementation of an Autonomous Context-Aware Deception Framework</a:t>
            </a:r>
            <a:endParaRPr lang="en-US" sz="3000" dirty="0"/>
          </a:p>
        </p:txBody>
      </p:sp>
      <p:sp>
        <p:nvSpPr>
          <p:cNvPr id="9" name="Text 6"/>
          <p:cNvSpPr/>
          <p:nvPr/>
        </p:nvSpPr>
        <p:spPr>
          <a:xfrm>
            <a:off x="4330758" y="4137675"/>
            <a:ext cx="3530485" cy="327602"/>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C55A11"/>
                </a:solidFill>
                <a:latin typeface="Source Sans 3" pitchFamily="34" charset="0"/>
                <a:ea typeface="Source Sans 3" pitchFamily="34" charset="-122"/>
                <a:cs typeface="Source Sans 3" pitchFamily="34" charset="-120"/>
              </a:rPr>
              <a:t>Graduation Project 1, Seminar 1</a:t>
            </a:r>
            <a:endParaRPr lang="en-US" sz="1700" dirty="0"/>
          </a:p>
        </p:txBody>
      </p:sp>
      <p:sp>
        <p:nvSpPr>
          <p:cNvPr id="10" name="Text 7"/>
          <p:cNvSpPr/>
          <p:nvPr/>
        </p:nvSpPr>
        <p:spPr>
          <a:xfrm>
            <a:off x="4111033" y="4846277"/>
            <a:ext cx="1000298" cy="256526"/>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7F7F7F"/>
                </a:solidFill>
                <a:latin typeface="Source Sans 3" pitchFamily="34" charset="0"/>
                <a:ea typeface="Source Sans 3" pitchFamily="34" charset="-122"/>
                <a:cs typeface="Source Sans 3" pitchFamily="34" charset="-120"/>
              </a:rPr>
              <a:t>Prepared by</a:t>
            </a:r>
            <a:endParaRPr lang="en-US" sz="1300" dirty="0"/>
          </a:p>
        </p:txBody>
      </p:sp>
      <p:sp>
        <p:nvSpPr>
          <p:cNvPr id="11" name="Text 8"/>
          <p:cNvSpPr/>
          <p:nvPr/>
        </p:nvSpPr>
        <p:spPr>
          <a:xfrm>
            <a:off x="3565222" y="5128202"/>
            <a:ext cx="2091994" cy="539750"/>
          </a:xfrm>
          <a:prstGeom prst="rect">
            <a:avLst/>
          </a:prstGeom>
          <a:noFill/>
          <a:ln/>
        </p:spPr>
        <p:txBody>
          <a:bodyPr wrap="square" lIns="0" tIns="0" rIns="0" bIns="0" rtlCol="0" anchor="t">
            <a:normAutofit/>
          </a:bodyPr>
          <a:lstStyle/>
          <a:p>
            <a:pPr marL="0" indent="0" algn="ctr">
              <a:lnSpc>
                <a:spcPts val="2025"/>
              </a:lnSpc>
              <a:buNone/>
            </a:pPr>
            <a:r>
              <a:rPr lang="en-US" sz="1500" b="1" dirty="0">
                <a:solidFill>
                  <a:srgbClr val="262626"/>
                </a:solidFill>
                <a:latin typeface="Source Sans 3" pitchFamily="34" charset="0"/>
                <a:ea typeface="Source Sans 3" pitchFamily="34" charset="-122"/>
                <a:cs typeface="Source Sans 3" pitchFamily="34" charset="-120"/>
              </a:rPr>
              <a:t>Omar Khaled Abdulkafi</a:t>
            </a:r>
            <a:endParaRPr lang="en-US" sz="1500" dirty="0"/>
          </a:p>
          <a:p>
            <a:pPr marL="0" indent="0" algn="ctr">
              <a:lnSpc>
                <a:spcPts val="2025"/>
              </a:lnSpc>
              <a:buNone/>
            </a:pPr>
            <a:r>
              <a:rPr lang="en-US" sz="1500" b="1" dirty="0">
                <a:solidFill>
                  <a:srgbClr val="262626"/>
                </a:solidFill>
                <a:latin typeface="Source Sans 3" pitchFamily="34" charset="0"/>
                <a:ea typeface="Source Sans 3" pitchFamily="34" charset="-122"/>
                <a:cs typeface="Source Sans 3" pitchFamily="34" charset="-120"/>
              </a:rPr>
              <a:t>Moaz Hassan Al-Dawalibi</a:t>
            </a:r>
            <a:endParaRPr lang="en-US" sz="1500" dirty="0"/>
          </a:p>
        </p:txBody>
      </p:sp>
      <p:sp>
        <p:nvSpPr>
          <p:cNvPr id="12" name="Text 9"/>
          <p:cNvSpPr/>
          <p:nvPr/>
        </p:nvSpPr>
        <p:spPr>
          <a:xfrm>
            <a:off x="7161841" y="4846277"/>
            <a:ext cx="1169237" cy="256526"/>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7F7F7F"/>
                </a:solidFill>
                <a:latin typeface="Source Sans 3" pitchFamily="34" charset="0"/>
                <a:ea typeface="Source Sans 3" pitchFamily="34" charset="-122"/>
                <a:cs typeface="Source Sans 3" pitchFamily="34" charset="-120"/>
              </a:rPr>
              <a:t>Supervised by</a:t>
            </a:r>
            <a:endParaRPr lang="en-US" sz="1300" dirty="0"/>
          </a:p>
        </p:txBody>
      </p:sp>
      <p:sp>
        <p:nvSpPr>
          <p:cNvPr id="13" name="Text 10"/>
          <p:cNvSpPr/>
          <p:nvPr/>
        </p:nvSpPr>
        <p:spPr>
          <a:xfrm>
            <a:off x="6871257" y="5128202"/>
            <a:ext cx="1750476" cy="539750"/>
          </a:xfrm>
          <a:prstGeom prst="rect">
            <a:avLst/>
          </a:prstGeom>
          <a:noFill/>
          <a:ln/>
        </p:spPr>
        <p:txBody>
          <a:bodyPr wrap="square" lIns="0" tIns="0" rIns="0" bIns="0" rtlCol="0" anchor="t">
            <a:normAutofit/>
          </a:bodyPr>
          <a:lstStyle/>
          <a:p>
            <a:pPr marL="0" indent="0" algn="ctr">
              <a:lnSpc>
                <a:spcPts val="2025"/>
              </a:lnSpc>
              <a:buNone/>
            </a:pPr>
            <a:r>
              <a:rPr lang="en-US" sz="1500" b="1" dirty="0">
                <a:solidFill>
                  <a:srgbClr val="262626"/>
                </a:solidFill>
                <a:latin typeface="Source Sans 3" pitchFamily="34" charset="0"/>
                <a:ea typeface="Source Sans 3" pitchFamily="34" charset="-122"/>
                <a:cs typeface="Source Sans 3" pitchFamily="34" charset="-120"/>
              </a:rPr>
              <a:t>Dr. Wassim Juneidi</a:t>
            </a:r>
            <a:endParaRPr lang="en-US" sz="1500" dirty="0"/>
          </a:p>
          <a:p>
            <a:pPr marL="0" indent="0" algn="ctr">
              <a:lnSpc>
                <a:spcPts val="2025"/>
              </a:lnSpc>
              <a:buNone/>
            </a:pPr>
            <a:r>
              <a:rPr lang="en-US" sz="1500" b="1" dirty="0">
                <a:solidFill>
                  <a:srgbClr val="262626"/>
                </a:solidFill>
                <a:latin typeface="Source Sans 3" pitchFamily="34" charset="0"/>
                <a:ea typeface="Source Sans 3" pitchFamily="34" charset="-122"/>
                <a:cs typeface="Source Sans 3" pitchFamily="34" charset="-120"/>
              </a:rPr>
              <a:t>Eng. Nagham Ashqar</a:t>
            </a:r>
            <a:endParaRPr lang="en-US" sz="1500" dirty="0"/>
          </a:p>
        </p:txBody>
      </p:sp>
      <p:sp>
        <p:nvSpPr>
          <p:cNvPr id="14" name="Text 11"/>
          <p:cNvSpPr/>
          <p:nvPr/>
        </p:nvSpPr>
        <p:spPr>
          <a:xfrm>
            <a:off x="5048864" y="5769552"/>
            <a:ext cx="2094201" cy="256526"/>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595959"/>
                </a:solidFill>
                <a:latin typeface="Source Sans 3" pitchFamily="34" charset="0"/>
                <a:ea typeface="Source Sans 3" pitchFamily="34" charset="-122"/>
                <a:cs typeface="Source Sans 3" pitchFamily="34" charset="-120"/>
              </a:rPr>
              <a:t>Academic Year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0"/>
            <a:ext cx="2128231"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Project Goal</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sp>
        <p:nvSpPr>
          <p:cNvPr id="5" name="Text 1"/>
          <p:cNvSpPr/>
          <p:nvPr/>
        </p:nvSpPr>
        <p:spPr>
          <a:xfrm>
            <a:off x="711200" y="2113901"/>
            <a:ext cx="5337048"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3864"/>
                </a:solidFill>
                <a:latin typeface="Source Sans 3" pitchFamily="34" charset="0"/>
                <a:ea typeface="Source Sans 3" pitchFamily="34" charset="-122"/>
                <a:cs typeface="Source Sans 3" pitchFamily="34" charset="-120"/>
              </a:rPr>
              <a:t>The problem</a:t>
            </a:r>
            <a:endParaRPr lang="en-US" sz="1800" dirty="0"/>
          </a:p>
        </p:txBody>
      </p:sp>
      <p:sp>
        <p:nvSpPr>
          <p:cNvPr id="6" name="Text 2"/>
          <p:cNvSpPr/>
          <p:nvPr/>
        </p:nvSpPr>
        <p:spPr>
          <a:xfrm>
            <a:off x="782320" y="2515177"/>
            <a:ext cx="5258308" cy="17399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Classic honeypots are static, so attackers learn to recognise them</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Decoys are placed without considering the services the host exposes</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Bots and human attackers are not distinguished while the attack is happening</a:t>
            </a:r>
            <a:endParaRPr lang="en-US" sz="1500" dirty="0"/>
          </a:p>
        </p:txBody>
      </p:sp>
      <p:sp>
        <p:nvSpPr>
          <p:cNvPr id="7" name="Text 3"/>
          <p:cNvSpPr/>
          <p:nvPr/>
        </p:nvSpPr>
        <p:spPr>
          <a:xfrm>
            <a:off x="6299200" y="2113901"/>
            <a:ext cx="5337048"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3864"/>
                </a:solidFill>
                <a:latin typeface="Source Sans 3" pitchFamily="34" charset="0"/>
                <a:ea typeface="Source Sans 3" pitchFamily="34" charset="-122"/>
                <a:cs typeface="Source Sans 3" pitchFamily="34" charset="-120"/>
              </a:rPr>
              <a:t>Our goal</a:t>
            </a:r>
            <a:endParaRPr lang="en-US" sz="1800" dirty="0"/>
          </a:p>
        </p:txBody>
      </p:sp>
      <p:sp>
        <p:nvSpPr>
          <p:cNvPr id="8" name="Text 4"/>
          <p:cNvSpPr/>
          <p:nvPr/>
        </p:nvSpPr>
        <p:spPr>
          <a:xfrm>
            <a:off x="6370320" y="2515177"/>
            <a:ext cx="5258308" cy="17399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Choose and deploy a suitable decoy for each attacker automatically</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Base the decision on two inputs: the host’s attack surface and the attacker type</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Keep changing the decoys and log the reason for every decision</a:t>
            </a:r>
            <a:endParaRPr lang="en-US" sz="1500" dirty="0"/>
          </a:p>
        </p:txBody>
      </p:sp>
      <p:sp>
        <p:nvSpPr>
          <p:cNvPr id="9" name="Text 5"/>
          <p:cNvSpPr/>
          <p:nvPr/>
        </p:nvSpPr>
        <p:spPr>
          <a:xfrm>
            <a:off x="711200" y="4534477"/>
            <a:ext cx="10769600" cy="571500"/>
          </a:xfrm>
          <a:prstGeom prst="rect">
            <a:avLst/>
          </a:prstGeom>
          <a:solidFill>
            <a:srgbClr val="DEEBF7"/>
          </a:solidFill>
          <a:ln/>
        </p:spPr>
        <p:txBody>
          <a:bodyPr wrap="square" lIns="254000" tIns="152400" rIns="0" bIns="127000" rtlCol="0" anchor="t">
            <a:normAutofit/>
          </a:bodyPr>
          <a:lstStyle/>
          <a:p>
            <a:pPr marL="0" indent="0" algn="l">
              <a:lnSpc>
                <a:spcPts val="2100"/>
              </a:lnSpc>
              <a:buNone/>
            </a:pPr>
            <a:r>
              <a:rPr lang="en-US" sz="1500" b="1" dirty="0">
                <a:solidFill>
                  <a:srgbClr val="1F3864"/>
                </a:solidFill>
                <a:latin typeface="Source Sans 3" pitchFamily="34" charset="0"/>
                <a:ea typeface="Source Sans 3" pitchFamily="34" charset="-122"/>
                <a:cs typeface="Source Sans 3" pitchFamily="34" charset="-120"/>
              </a:rPr>
              <a:t>Current phase (GP1):</a:t>
            </a:r>
            <a:r>
              <a:rPr lang="en-US" sz="1500" dirty="0">
                <a:solidFill>
                  <a:srgbClr val="1F3864"/>
                </a:solidFill>
                <a:latin typeface="Source Sans 3" pitchFamily="34" charset="0"/>
                <a:ea typeface="Source Sans 3" pitchFamily="34" charset="-122"/>
                <a:cs typeface="Source Sans 3" pitchFamily="34" charset="-120"/>
              </a:rPr>
              <a:t> Adaptive Response Engine and Moving Target Defense</a:t>
            </a:r>
            <a:endParaRPr lang="en-US" sz="1500" dirty="0"/>
          </a:p>
        </p:txBody>
      </p:sp>
      <p:sp>
        <p:nvSpPr>
          <p:cNvPr id="10" name="Shape 6"/>
          <p:cNvSpPr/>
          <p:nvPr/>
        </p:nvSpPr>
        <p:spPr>
          <a:xfrm>
            <a:off x="736600" y="4534477"/>
            <a:ext cx="0" cy="571500"/>
          </a:xfrm>
          <a:prstGeom prst="line">
            <a:avLst/>
          </a:prstGeom>
          <a:noFill/>
          <a:ln w="50800">
            <a:solidFill>
              <a:srgbClr val="1F3864"/>
            </a:solidFill>
            <a:prstDash val="solid"/>
          </a:ln>
        </p:spPr>
        <p:txBody>
          <a:bodyPr/>
          <a:lstStyle/>
          <a:p>
            <a:endParaRPr lang="en-US"/>
          </a:p>
        </p:txBody>
      </p:sp>
      <p:sp>
        <p:nvSpPr>
          <p:cNvPr id="11" name="Shape 7"/>
          <p:cNvSpPr/>
          <p:nvPr/>
        </p:nvSpPr>
        <p:spPr>
          <a:xfrm>
            <a:off x="711200" y="6235700"/>
            <a:ext cx="10769600" cy="12700"/>
          </a:xfrm>
          <a:prstGeom prst="rect">
            <a:avLst/>
          </a:prstGeom>
          <a:solidFill>
            <a:srgbClr val="D9D9D9"/>
          </a:solidFill>
          <a:ln/>
        </p:spPr>
        <p:txBody>
          <a:bodyPr/>
          <a:lstStyle/>
          <a:p>
            <a:endParaRPr lang="en-US"/>
          </a:p>
        </p:txBody>
      </p:sp>
      <p:sp>
        <p:nvSpPr>
          <p:cNvPr id="12" name="Text 8"/>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13" name="Text 9"/>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0"/>
            <a:ext cx="3097357"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Literature Review</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sp>
        <p:nvSpPr>
          <p:cNvPr id="5" name="Shape 1"/>
          <p:cNvSpPr/>
          <p:nvPr/>
        </p:nvSpPr>
        <p:spPr>
          <a:xfrm>
            <a:off x="711200" y="1599335"/>
            <a:ext cx="10769600" cy="3655580"/>
          </a:xfrm>
          <a:prstGeom prst="rect">
            <a:avLst/>
          </a:prstGeom>
          <a:solidFill>
            <a:srgbClr val="FFFFFF"/>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20436" y="1608571"/>
          <a:ext cx="10760364" cy="3848501"/>
        </p:xfrm>
        <a:graphic>
          <a:graphicData uri="http://schemas.openxmlformats.org/drawingml/2006/table">
            <a:tbl>
              <a:tblPr/>
              <a:tblGrid>
                <a:gridCol w="2582487">
                  <a:extLst>
                    <a:ext uri="{9D8B030D-6E8A-4147-A177-3AD203B41FA5}">
                      <a16:colId xmlns:a16="http://schemas.microsoft.com/office/drawing/2014/main" val="20000"/>
                    </a:ext>
                  </a:extLst>
                </a:gridCol>
                <a:gridCol w="2797695">
                  <a:extLst>
                    <a:ext uri="{9D8B030D-6E8A-4147-A177-3AD203B41FA5}">
                      <a16:colId xmlns:a16="http://schemas.microsoft.com/office/drawing/2014/main" val="20001"/>
                    </a:ext>
                  </a:extLst>
                </a:gridCol>
                <a:gridCol w="5380182">
                  <a:extLst>
                    <a:ext uri="{9D8B030D-6E8A-4147-A177-3AD203B41FA5}">
                      <a16:colId xmlns:a16="http://schemas.microsoft.com/office/drawing/2014/main" val="20002"/>
                    </a:ext>
                  </a:extLst>
                </a:gridCol>
              </a:tblGrid>
              <a:tr h="355816">
                <a:tc>
                  <a:txBody>
                    <a:bodyPr/>
                    <a:lstStyle/>
                    <a:p>
                      <a:pPr marL="0" indent="0">
                        <a:lnSpc>
                          <a:spcPts val="1820"/>
                        </a:lnSpc>
                        <a:buNone/>
                      </a:pPr>
                      <a:r>
                        <a:rPr lang="en-US" sz="1300" b="1" dirty="0">
                          <a:solidFill>
                            <a:srgbClr val="FFFFFF"/>
                          </a:solidFill>
                          <a:latin typeface="Source Sans 3" pitchFamily="34" charset="0"/>
                          <a:ea typeface="Source Sans 3" pitchFamily="34" charset="-122"/>
                          <a:cs typeface="Source Sans 3" pitchFamily="34" charset="-120"/>
                        </a:rPr>
                        <a:t>Study</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1D305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3052"/>
                      </a:solidFill>
                      <a:prstDash val="solid"/>
                      <a:round/>
                      <a:headEnd type="none" w="med" len="med"/>
                      <a:tailEnd type="none" w="med" len="med"/>
                    </a:lnB>
                    <a:solidFill>
                      <a:srgbClr val="1F3864"/>
                    </a:solidFill>
                  </a:tcPr>
                </a:tc>
                <a:tc>
                  <a:txBody>
                    <a:bodyPr/>
                    <a:lstStyle/>
                    <a:p>
                      <a:pPr marL="0" indent="0">
                        <a:lnSpc>
                          <a:spcPts val="1820"/>
                        </a:lnSpc>
                        <a:buNone/>
                      </a:pPr>
                      <a:r>
                        <a:rPr lang="en-US" sz="1300" b="1" dirty="0">
                          <a:solidFill>
                            <a:srgbClr val="FFFFFF"/>
                          </a:solidFill>
                          <a:latin typeface="Source Sans 3" pitchFamily="34" charset="0"/>
                          <a:ea typeface="Source Sans 3" pitchFamily="34" charset="-122"/>
                          <a:cs typeface="Source Sans 3" pitchFamily="34" charset="-120"/>
                        </a:rPr>
                        <a:t>Published in</a:t>
                      </a:r>
                      <a:endParaRPr lang="en-US" sz="1300" dirty="0">
                        <a:latin typeface="Source Sans 3" charset="0"/>
                        <a:ea typeface="Source Sans 3" charset="0"/>
                        <a:cs typeface="Source Sans 3" charset="0"/>
                      </a:endParaRPr>
                    </a:p>
                  </a:txBody>
                  <a:tcPr marL="57785" marR="57785" marT="57785" marB="57785">
                    <a:lnL w="12700" cap="flat" cmpd="sng" algn="ctr">
                      <a:solidFill>
                        <a:srgbClr val="1D3052"/>
                      </a:solidFill>
                      <a:prstDash val="solid"/>
                      <a:round/>
                      <a:headEnd type="none" w="med" len="med"/>
                      <a:tailEnd type="none" w="med" len="med"/>
                    </a:lnL>
                    <a:lnR w="12700" cap="flat" cmpd="sng" algn="ctr">
                      <a:solidFill>
                        <a:srgbClr val="1D305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3052"/>
                      </a:solidFill>
                      <a:prstDash val="solid"/>
                      <a:round/>
                      <a:headEnd type="none" w="med" len="med"/>
                      <a:tailEnd type="none" w="med" len="med"/>
                    </a:lnB>
                    <a:solidFill>
                      <a:srgbClr val="1F3864"/>
                    </a:solidFill>
                  </a:tcPr>
                </a:tc>
                <a:tc>
                  <a:txBody>
                    <a:bodyPr/>
                    <a:lstStyle/>
                    <a:p>
                      <a:pPr marL="0" indent="0">
                        <a:lnSpc>
                          <a:spcPts val="1820"/>
                        </a:lnSpc>
                        <a:buNone/>
                      </a:pPr>
                      <a:r>
                        <a:rPr lang="en-US" sz="1300" b="1" dirty="0">
                          <a:solidFill>
                            <a:srgbClr val="FFFFFF"/>
                          </a:solidFill>
                          <a:latin typeface="Source Sans 3" pitchFamily="34" charset="0"/>
                          <a:ea typeface="Source Sans 3" pitchFamily="34" charset="-122"/>
                          <a:cs typeface="Source Sans 3" pitchFamily="34" charset="-120"/>
                        </a:rPr>
                        <a:t>What it means for our project</a:t>
                      </a:r>
                      <a:endParaRPr lang="en-US" sz="1300" dirty="0">
                        <a:latin typeface="Source Sans 3" charset="0"/>
                        <a:ea typeface="Source Sans 3" charset="0"/>
                        <a:cs typeface="Source Sans 3" charset="0"/>
                      </a:endParaRPr>
                    </a:p>
                  </a:txBody>
                  <a:tcPr marL="57785" marR="57785" marT="57785" marB="57785">
                    <a:lnL w="12700" cap="flat" cmpd="sng" algn="ctr">
                      <a:solidFill>
                        <a:srgbClr val="1D3052"/>
                      </a:solidFill>
                      <a:prstDash val="solid"/>
                      <a:round/>
                      <a:headEnd type="none" w="med" len="med"/>
                      <a:tailEnd type="none" w="med" len="med"/>
                    </a:lnL>
                    <a:lnR w="12700" cap="flat" cmpd="sng" algn="ctr">
                      <a:solidFill>
                        <a:srgbClr val="1D305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3052"/>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586942">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Q-Cowrie (reference study)</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8B7AB"/>
                      </a:solidFill>
                      <a:prstDash val="solid"/>
                      <a:round/>
                      <a:headEnd type="none" w="med" len="med"/>
                      <a:tailEnd type="none" w="med" len="med"/>
                    </a:lnR>
                    <a:lnT w="12700" cap="flat" cmpd="sng" algn="ctr">
                      <a:solidFill>
                        <a:srgbClr val="1D3052"/>
                      </a:solidFill>
                      <a:prstDash val="solid"/>
                      <a:round/>
                      <a:headEnd type="none" w="med" len="med"/>
                      <a:tailEnd type="none" w="med" len="med"/>
                    </a:lnT>
                    <a:lnB w="12700" cap="flat" cmpd="sng" algn="ctr">
                      <a:solidFill>
                        <a:srgbClr val="C8B7AB"/>
                      </a:solidFill>
                      <a:prstDash val="solid"/>
                      <a:round/>
                      <a:headEnd type="none" w="med" len="med"/>
                      <a:tailEnd type="none" w="med" len="med"/>
                    </a:lnB>
                    <a:solidFill>
                      <a:srgbClr val="FBE5D6"/>
                    </a:solidFill>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Int. J. of Information Security, 2026</a:t>
                      </a:r>
                      <a:endParaRPr lang="en-US" sz="1300" dirty="0">
                        <a:latin typeface="Source Sans 3" charset="0"/>
                        <a:ea typeface="Source Sans 3" charset="0"/>
                        <a:cs typeface="Source Sans 3" charset="0"/>
                      </a:endParaRPr>
                    </a:p>
                  </a:txBody>
                  <a:tcPr marL="57785" marR="57785" marT="57785" marB="57785">
                    <a:lnL w="12700" cap="flat" cmpd="sng" algn="ctr">
                      <a:solidFill>
                        <a:srgbClr val="C8B7AB"/>
                      </a:solidFill>
                      <a:prstDash val="solid"/>
                      <a:round/>
                      <a:headEnd type="none" w="med" len="med"/>
                      <a:tailEnd type="none" w="med" len="med"/>
                    </a:lnL>
                    <a:lnR w="12700" cap="flat" cmpd="sng" algn="ctr">
                      <a:solidFill>
                        <a:srgbClr val="C8B7AB"/>
                      </a:solidFill>
                      <a:prstDash val="solid"/>
                      <a:round/>
                      <a:headEnd type="none" w="med" len="med"/>
                      <a:tailEnd type="none" w="med" len="med"/>
                    </a:lnR>
                    <a:lnT w="12700" cap="flat" cmpd="sng" algn="ctr">
                      <a:solidFill>
                        <a:srgbClr val="1D3052"/>
                      </a:solidFill>
                      <a:prstDash val="solid"/>
                      <a:round/>
                      <a:headEnd type="none" w="med" len="med"/>
                      <a:tailEnd type="none" w="med" len="med"/>
                    </a:lnT>
                    <a:lnB w="12700" cap="flat" cmpd="sng" algn="ctr">
                      <a:solidFill>
                        <a:srgbClr val="C8B7AB"/>
                      </a:solidFill>
                      <a:prstDash val="solid"/>
                      <a:round/>
                      <a:headEnd type="none" w="med" len="med"/>
                      <a:tailEnd type="none" w="med" len="med"/>
                    </a:lnB>
                    <a:solidFill>
                      <a:srgbClr val="FBE5D6"/>
                    </a:solidFill>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Adaptive honeypot with Q-learning. Open issues: detection, no attacker classification, no explainability</a:t>
                      </a:r>
                      <a:endParaRPr lang="en-US" sz="1300" dirty="0">
                        <a:latin typeface="Source Sans 3" charset="0"/>
                        <a:ea typeface="Source Sans 3" charset="0"/>
                        <a:cs typeface="Source Sans 3" charset="0"/>
                      </a:endParaRPr>
                    </a:p>
                  </a:txBody>
                  <a:tcPr marL="57785" marR="57785" marT="57785" marB="57785">
                    <a:lnL w="12700" cap="flat" cmpd="sng" algn="ctr">
                      <a:solidFill>
                        <a:srgbClr val="C8B7AB"/>
                      </a:solidFill>
                      <a:prstDash val="solid"/>
                      <a:round/>
                      <a:headEnd type="none" w="med" len="med"/>
                      <a:tailEnd type="none" w="med" len="med"/>
                    </a:lnL>
                    <a:lnR w="12700" cap="flat" cmpd="sng" algn="ctr">
                      <a:solidFill>
                        <a:srgbClr val="C8B7AB"/>
                      </a:solidFill>
                      <a:prstDash val="solid"/>
                      <a:round/>
                      <a:headEnd type="none" w="med" len="med"/>
                      <a:tailEnd type="none" w="med" len="med"/>
                    </a:lnR>
                    <a:lnT w="12700" cap="flat" cmpd="sng" algn="ctr">
                      <a:solidFill>
                        <a:srgbClr val="1D3052"/>
                      </a:solidFill>
                      <a:prstDash val="solid"/>
                      <a:round/>
                      <a:headEnd type="none" w="med" len="med"/>
                      <a:tailEnd type="none" w="med" len="med"/>
                    </a:lnT>
                    <a:lnB w="12700" cap="flat" cmpd="sng" algn="ctr">
                      <a:solidFill>
                        <a:srgbClr val="C8B7AB"/>
                      </a:solidFill>
                      <a:prstDash val="solid"/>
                      <a:round/>
                      <a:headEnd type="none" w="med" len="med"/>
                      <a:tailEnd type="none" w="med" len="med"/>
                    </a:lnB>
                    <a:solidFill>
                      <a:srgbClr val="FBE5D6"/>
                    </a:solidFill>
                  </a:tcPr>
                </a:tc>
                <a:extLst>
                  <a:ext uri="{0D108BD9-81ED-4DB2-BD59-A6C34878D82A}">
                    <a16:rowId xmlns:a16="http://schemas.microsoft.com/office/drawing/2014/main" val="10001"/>
                  </a:ext>
                </a:extLst>
              </a:tr>
              <a:tr h="586942">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Munteanu et al.</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7A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ACM IMC, 2025</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7A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Attackers often detect static honeypots, so our decoys are containers that change</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8B7A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86942">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Mladenov et al.</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IEEE EuroS&amp;P, 2025</a:t>
                      </a:r>
                      <a:endParaRPr lang="en-US" sz="1300" dirty="0">
                        <a:latin typeface="Source Sans 3" charset="0"/>
                        <a:ea typeface="Source Sans 3" charset="0"/>
                        <a:cs typeface="Source Sans 3" charset="0"/>
                      </a:endParaRPr>
                    </a:p>
                  </a:txBody>
                  <a:tcPr marL="57785" marR="57785" marT="57785" marB="57785">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Honeypots are recognised at scale, so each decoy must look consistent with its host</a:t>
                      </a:r>
                      <a:endParaRPr lang="en-US" sz="1300" dirty="0">
                        <a:latin typeface="Source Sans 3" charset="0"/>
                        <a:ea typeface="Source Sans 3" charset="0"/>
                        <a:cs typeface="Source Sans 3" charset="0"/>
                      </a:endParaRPr>
                    </a:p>
                  </a:txBody>
                  <a:tcPr marL="57785" marR="57785" marT="57785" marB="57785">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355816">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Shahzad and Saleh</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J. of Cybersecurity and Privacy, 2026</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Containers start in seconds, which suits decoys created on demand</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86942">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Malhotra</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arXiv preprint, 2025</a:t>
                      </a:r>
                      <a:endParaRPr lang="en-US" sz="1300" dirty="0">
                        <a:latin typeface="Source Sans 3" charset="0"/>
                        <a:ea typeface="Source Sans 3" charset="0"/>
                        <a:cs typeface="Source Sans 3" charset="0"/>
                      </a:endParaRPr>
                    </a:p>
                  </a:txBody>
                  <a:tcPr marL="57785" marR="57785" marT="57785" marB="57785">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Small LLMs take seconds per command, so decoy content is generated in advance</a:t>
                      </a:r>
                      <a:endParaRPr lang="en-US" sz="1300" dirty="0">
                        <a:latin typeface="Source Sans 3" charset="0"/>
                        <a:ea typeface="Source Sans 3" charset="0"/>
                        <a:cs typeface="Source Sans 3" charset="0"/>
                      </a:endParaRPr>
                    </a:p>
                  </a:txBody>
                  <a:tcPr marL="57785" marR="57785" marT="57785" marB="57785">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586942">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Amin et al.</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Connection Science, 2026</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Source Sans 3" pitchFamily="34" charset="0"/>
                          <a:ea typeface="Source Sans 3" pitchFamily="34" charset="-122"/>
                          <a:cs typeface="Source Sans 3" pitchFamily="34" charset="-120"/>
                        </a:rPr>
                        <a:t>Detection models lose accuracy on new datasets, so we test on external data</a:t>
                      </a:r>
                      <a:endParaRPr lang="en-US" sz="1300" dirty="0">
                        <a:latin typeface="Source Sans 3" charset="0"/>
                        <a:ea typeface="Source Sans 3" charset="0"/>
                        <a:cs typeface="Source Sans 3"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hape 3"/>
          <p:cNvSpPr/>
          <p:nvPr/>
        </p:nvSpPr>
        <p:spPr>
          <a:xfrm>
            <a:off x="711200" y="6235700"/>
            <a:ext cx="10769600" cy="12700"/>
          </a:xfrm>
          <a:prstGeom prst="rect">
            <a:avLst/>
          </a:prstGeom>
          <a:solidFill>
            <a:srgbClr val="D9D9D9"/>
          </a:solidFill>
          <a:ln/>
        </p:spPr>
        <p:txBody>
          <a:bodyPr/>
          <a:lstStyle/>
          <a:p>
            <a:endParaRPr lang="en-US"/>
          </a:p>
        </p:txBody>
      </p:sp>
      <p:sp>
        <p:nvSpPr>
          <p:cNvPr id="9" name="Text 4"/>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10" name="Text 5"/>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0"/>
            <a:ext cx="8399145"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Previously Completed Stages (Semester Project)</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sp>
        <p:nvSpPr>
          <p:cNvPr id="5" name="Text 1"/>
          <p:cNvSpPr/>
          <p:nvPr/>
        </p:nvSpPr>
        <p:spPr>
          <a:xfrm>
            <a:off x="711200" y="2694927"/>
            <a:ext cx="5363210"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3864"/>
                </a:solidFill>
                <a:latin typeface="Source Sans 3" pitchFamily="34" charset="0"/>
                <a:ea typeface="Source Sans 3" pitchFamily="34" charset="-122"/>
                <a:cs typeface="Source Sans 3" pitchFamily="34" charset="-120"/>
              </a:rPr>
              <a:t>What we built</a:t>
            </a:r>
            <a:endParaRPr lang="en-US" sz="1800" dirty="0"/>
          </a:p>
        </p:txBody>
      </p:sp>
      <p:sp>
        <p:nvSpPr>
          <p:cNvPr id="6" name="Text 2"/>
          <p:cNvSpPr/>
          <p:nvPr/>
        </p:nvSpPr>
        <p:spPr>
          <a:xfrm>
            <a:off x="784874" y="3096203"/>
            <a:ext cx="5281916" cy="1454150"/>
          </a:xfrm>
          <a:prstGeom prst="rect">
            <a:avLst/>
          </a:prstGeom>
          <a:noFill/>
          <a:ln/>
        </p:spPr>
        <p:txBody>
          <a:bodyPr wrap="square" lIns="0" tIns="0" rIns="0" bIns="0" rtlCol="0" anchor="t">
            <a:normAutofit/>
          </a:bodyPr>
          <a:lstStyle/>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Isolated lab in VMware: Ubuntu server and Kali attacker</a:t>
            </a:r>
            <a:endParaRPr lang="en-US" sz="1500" dirty="0"/>
          </a:p>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Network monitoring with Zeek</a:t>
            </a:r>
            <a:endParaRPr lang="en-US" sz="1500" dirty="0"/>
          </a:p>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Cowrie SSH honeypot with port redirection (22 to 2222)</a:t>
            </a:r>
            <a:endParaRPr lang="en-US" sz="1500" dirty="0"/>
          </a:p>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Attack surface analysis using Nmap</a:t>
            </a:r>
            <a:endParaRPr lang="en-US" sz="1500" dirty="0"/>
          </a:p>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First bot / human classifier (Random Forest)</a:t>
            </a:r>
            <a:endParaRPr lang="en-US" sz="1500" dirty="0"/>
          </a:p>
        </p:txBody>
      </p:sp>
      <p:sp>
        <p:nvSpPr>
          <p:cNvPr id="7" name="Shape 3"/>
          <p:cNvSpPr/>
          <p:nvPr/>
        </p:nvSpPr>
        <p:spPr>
          <a:xfrm>
            <a:off x="6280150" y="2694927"/>
            <a:ext cx="0" cy="1830027"/>
          </a:xfrm>
          <a:prstGeom prst="line">
            <a:avLst/>
          </a:prstGeom>
          <a:noFill/>
          <a:ln w="12700">
            <a:solidFill>
              <a:srgbClr val="D9D9D9"/>
            </a:solidFill>
            <a:prstDash val="solid"/>
          </a:ln>
        </p:spPr>
        <p:txBody>
          <a:bodyPr/>
          <a:lstStyle/>
          <a:p>
            <a:endParaRPr lang="en-US"/>
          </a:p>
        </p:txBody>
      </p:sp>
      <p:sp>
        <p:nvSpPr>
          <p:cNvPr id="8" name="Text 4"/>
          <p:cNvSpPr/>
          <p:nvPr/>
        </p:nvSpPr>
        <p:spPr>
          <a:xfrm>
            <a:off x="6587837" y="2694927"/>
            <a:ext cx="5039753"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3864"/>
                </a:solidFill>
                <a:latin typeface="Source Sans 3" pitchFamily="34" charset="0"/>
                <a:ea typeface="Source Sans 3" pitchFamily="34" charset="-122"/>
                <a:cs typeface="Source Sans 3" pitchFamily="34" charset="-120"/>
              </a:rPr>
              <a:t>What it produced</a:t>
            </a:r>
            <a:endParaRPr lang="en-US" sz="1800" dirty="0"/>
          </a:p>
        </p:txBody>
      </p:sp>
      <p:sp>
        <p:nvSpPr>
          <p:cNvPr id="9" name="Text 5"/>
          <p:cNvSpPr/>
          <p:nvPr/>
        </p:nvSpPr>
        <p:spPr>
          <a:xfrm>
            <a:off x="6661511" y="3096203"/>
            <a:ext cx="4958458" cy="1168400"/>
          </a:xfrm>
          <a:prstGeom prst="rect">
            <a:avLst/>
          </a:prstGeom>
          <a:noFill/>
          <a:ln/>
        </p:spPr>
        <p:txBody>
          <a:bodyPr wrap="square" lIns="0" tIns="0" rIns="0" bIns="0" rtlCol="0" anchor="t">
            <a:normAutofit/>
          </a:bodyPr>
          <a:lstStyle/>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Attack surface report of the defended host</a:t>
            </a:r>
            <a:endParaRPr lang="en-US" sz="1500" dirty="0"/>
          </a:p>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Structured Cowrie and Zeek logs of every session</a:t>
            </a:r>
            <a:endParaRPr lang="en-US" sz="1500" dirty="0"/>
          </a:p>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Labelled lab sessions of bots and human participants</a:t>
            </a:r>
            <a:endParaRPr lang="en-US" sz="1500" dirty="0"/>
          </a:p>
          <a:p>
            <a:pPr marL="180326" indent="-180326" algn="l">
              <a:lnSpc>
                <a:spcPts val="2250"/>
              </a:lnSpc>
              <a:buSzPct val="100000"/>
              <a:buFontTx/>
              <a:buAutoNum type="arabicPeriod"/>
            </a:pPr>
            <a:r>
              <a:rPr lang="en-US" sz="1500" dirty="0">
                <a:solidFill>
                  <a:srgbClr val="262626"/>
                </a:solidFill>
                <a:latin typeface="Source Sans 3" pitchFamily="34" charset="0"/>
                <a:ea typeface="Source Sans 3" pitchFamily="34" charset="-122"/>
                <a:cs typeface="Source Sans 3" pitchFamily="34" charset="-120"/>
              </a:rPr>
              <a:t>A first working bot / human classifier</a:t>
            </a:r>
            <a:endParaRPr lang="en-US" sz="1500" dirty="0"/>
          </a:p>
        </p:txBody>
      </p:sp>
      <p:sp>
        <p:nvSpPr>
          <p:cNvPr id="10" name="Shape 6"/>
          <p:cNvSpPr/>
          <p:nvPr/>
        </p:nvSpPr>
        <p:spPr>
          <a:xfrm>
            <a:off x="711200" y="6235700"/>
            <a:ext cx="10769600" cy="12700"/>
          </a:xfrm>
          <a:prstGeom prst="rect">
            <a:avLst/>
          </a:prstGeom>
          <a:solidFill>
            <a:srgbClr val="D9D9D9"/>
          </a:solidFill>
          <a:ln/>
        </p:spPr>
        <p:txBody>
          <a:bodyPr/>
          <a:lstStyle/>
          <a:p>
            <a:endParaRPr lang="en-US"/>
          </a:p>
        </p:txBody>
      </p:sp>
      <p:sp>
        <p:nvSpPr>
          <p:cNvPr id="11" name="Text 7"/>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12" name="Text 8"/>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1"/>
            <a:ext cx="2973012"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System Topology</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pic>
        <p:nvPicPr>
          <p:cNvPr id="5" name="Image 2" descr="System topology at the end of GP1. 1: the Kali attacker connects to the Ubuntu host. 2: Netfilter redirects SSH to the Cowrie honeypot while Zeek monitors all traffic. 3: the first three commands go to the classifier, which decides bot or human. 4: the orchestrator combines the verdict, probe events and the attack surface. 5: the decoy manager starts an isolated Docker decoy. 6: the redirector adds a DNAT rule so the attacker's next connections reach the decoy. 7: the MTD rotator changes the dec"/>
          <p:cNvPicPr>
            <a:picLocks noChangeAspect="1"/>
          </p:cNvPicPr>
          <p:nvPr/>
        </p:nvPicPr>
        <p:blipFill>
          <a:blip r:embed="rId5"/>
          <a:srcRect t="-13" b="-13"/>
          <a:stretch/>
        </p:blipFill>
        <p:spPr>
          <a:xfrm>
            <a:off x="1104900" y="1174750"/>
            <a:ext cx="9982200" cy="4826000"/>
          </a:xfrm>
          <a:prstGeom prst="rect">
            <a:avLst/>
          </a:prstGeom>
        </p:spPr>
      </p:pic>
      <p:sp>
        <p:nvSpPr>
          <p:cNvPr id="6" name="Shape 1"/>
          <p:cNvSpPr/>
          <p:nvPr/>
        </p:nvSpPr>
        <p:spPr>
          <a:xfrm>
            <a:off x="711200" y="6235700"/>
            <a:ext cx="10769600" cy="12700"/>
          </a:xfrm>
          <a:prstGeom prst="rect">
            <a:avLst/>
          </a:prstGeom>
          <a:solidFill>
            <a:srgbClr val="D9D9D9"/>
          </a:solidFill>
          <a:ln/>
        </p:spPr>
        <p:txBody>
          <a:bodyPr/>
          <a:lstStyle/>
          <a:p>
            <a:endParaRPr lang="en-US"/>
          </a:p>
        </p:txBody>
      </p:sp>
      <p:sp>
        <p:nvSpPr>
          <p:cNvPr id="7" name="Text 2"/>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8" name="Text 3"/>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1"/>
            <a:ext cx="4055399"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Implementation Stages</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sp>
        <p:nvSpPr>
          <p:cNvPr id="5" name="Shape 1"/>
          <p:cNvSpPr/>
          <p:nvPr/>
        </p:nvSpPr>
        <p:spPr>
          <a:xfrm>
            <a:off x="711200" y="1716376"/>
            <a:ext cx="2406650" cy="1498600"/>
          </a:xfrm>
          <a:prstGeom prst="roundRect">
            <a:avLst>
              <a:gd name="adj" fmla="val 3390"/>
            </a:avLst>
          </a:prstGeom>
          <a:solidFill>
            <a:srgbClr val="1F3864"/>
          </a:solidFill>
          <a:ln/>
        </p:spPr>
        <p:txBody>
          <a:bodyPr/>
          <a:lstStyle/>
          <a:p>
            <a:endParaRPr lang="en-US"/>
          </a:p>
        </p:txBody>
      </p:sp>
      <p:sp>
        <p:nvSpPr>
          <p:cNvPr id="6" name="Text 2"/>
          <p:cNvSpPr/>
          <p:nvPr/>
        </p:nvSpPr>
        <p:spPr>
          <a:xfrm>
            <a:off x="863600" y="1868776"/>
            <a:ext cx="21649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Source Sans 3" pitchFamily="34" charset="0"/>
                <a:ea typeface="Source Sans 3" pitchFamily="34" charset="-122"/>
                <a:cs typeface="Source Sans 3" pitchFamily="34" charset="-120"/>
              </a:rPr>
              <a:t>1. Monitoring</a:t>
            </a:r>
            <a:endParaRPr lang="en-US" sz="1500" dirty="0"/>
          </a:p>
        </p:txBody>
      </p:sp>
      <p:sp>
        <p:nvSpPr>
          <p:cNvPr id="7" name="Text 3"/>
          <p:cNvSpPr/>
          <p:nvPr/>
        </p:nvSpPr>
        <p:spPr>
          <a:xfrm>
            <a:off x="863600" y="2160876"/>
            <a:ext cx="2164906"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E8EEF7"/>
                </a:solidFill>
                <a:latin typeface="Source Sans 3" pitchFamily="34" charset="0"/>
                <a:ea typeface="Source Sans 3" pitchFamily="34" charset="-122"/>
                <a:cs typeface="Source Sans 3" pitchFamily="34" charset="-120"/>
              </a:rPr>
              <a:t>Cowrie and Zeek record everything the attacker does</a:t>
            </a:r>
            <a:endParaRPr lang="en-US" sz="1300" dirty="0"/>
          </a:p>
        </p:txBody>
      </p:sp>
      <p:pic>
        <p:nvPicPr>
          <p:cNvPr id="8" name="Image 2" descr="connector"/>
          <p:cNvPicPr>
            <a:picLocks noChangeAspect="1"/>
          </p:cNvPicPr>
          <p:nvPr/>
        </p:nvPicPr>
        <p:blipFill>
          <a:blip r:embed="rId5"/>
          <a:srcRect/>
          <a:stretch/>
        </p:blipFill>
        <p:spPr>
          <a:xfrm>
            <a:off x="3194050" y="2414876"/>
            <a:ext cx="228600" cy="101600"/>
          </a:xfrm>
          <a:prstGeom prst="rect">
            <a:avLst/>
          </a:prstGeom>
        </p:spPr>
      </p:pic>
      <p:sp>
        <p:nvSpPr>
          <p:cNvPr id="9" name="Shape 4"/>
          <p:cNvSpPr/>
          <p:nvPr/>
        </p:nvSpPr>
        <p:spPr>
          <a:xfrm>
            <a:off x="3498850" y="1716376"/>
            <a:ext cx="2406650" cy="1498600"/>
          </a:xfrm>
          <a:prstGeom prst="roundRect">
            <a:avLst>
              <a:gd name="adj" fmla="val 3390"/>
            </a:avLst>
          </a:prstGeom>
          <a:solidFill>
            <a:srgbClr val="1F3864"/>
          </a:solidFill>
          <a:ln/>
        </p:spPr>
        <p:txBody>
          <a:bodyPr/>
          <a:lstStyle/>
          <a:p>
            <a:endParaRPr lang="en-US"/>
          </a:p>
        </p:txBody>
      </p:sp>
      <p:sp>
        <p:nvSpPr>
          <p:cNvPr id="10" name="Text 5"/>
          <p:cNvSpPr/>
          <p:nvPr/>
        </p:nvSpPr>
        <p:spPr>
          <a:xfrm>
            <a:off x="3651250" y="1868776"/>
            <a:ext cx="21649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Source Sans 3" pitchFamily="34" charset="0"/>
                <a:ea typeface="Source Sans 3" pitchFamily="34" charset="-122"/>
                <a:cs typeface="Source Sans 3" pitchFamily="34" charset="-120"/>
              </a:rPr>
              <a:t>2. Classification</a:t>
            </a:r>
            <a:endParaRPr lang="en-US" sz="1500" dirty="0"/>
          </a:p>
        </p:txBody>
      </p:sp>
      <p:sp>
        <p:nvSpPr>
          <p:cNvPr id="11" name="Text 6"/>
          <p:cNvSpPr/>
          <p:nvPr/>
        </p:nvSpPr>
        <p:spPr>
          <a:xfrm>
            <a:off x="3651250" y="2160876"/>
            <a:ext cx="2164906"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E8EEF7"/>
                </a:solidFill>
                <a:latin typeface="Source Sans 3" pitchFamily="34" charset="0"/>
                <a:ea typeface="Source Sans 3" pitchFamily="34" charset="-122"/>
                <a:cs typeface="Source Sans 3" pitchFamily="34" charset="-120"/>
              </a:rPr>
              <a:t>After three commands the model decides: bot or human</a:t>
            </a:r>
            <a:endParaRPr lang="en-US" sz="1300" dirty="0"/>
          </a:p>
        </p:txBody>
      </p:sp>
      <p:pic>
        <p:nvPicPr>
          <p:cNvPr id="12" name="Image 3" descr="connector"/>
          <p:cNvPicPr>
            <a:picLocks noChangeAspect="1"/>
          </p:cNvPicPr>
          <p:nvPr/>
        </p:nvPicPr>
        <p:blipFill>
          <a:blip r:embed="rId5"/>
          <a:srcRect/>
          <a:stretch/>
        </p:blipFill>
        <p:spPr>
          <a:xfrm>
            <a:off x="5981700" y="2414876"/>
            <a:ext cx="228600" cy="101600"/>
          </a:xfrm>
          <a:prstGeom prst="rect">
            <a:avLst/>
          </a:prstGeom>
        </p:spPr>
      </p:pic>
      <p:sp>
        <p:nvSpPr>
          <p:cNvPr id="13" name="Shape 7"/>
          <p:cNvSpPr/>
          <p:nvPr/>
        </p:nvSpPr>
        <p:spPr>
          <a:xfrm>
            <a:off x="6286500" y="1716376"/>
            <a:ext cx="2406650" cy="1498600"/>
          </a:xfrm>
          <a:prstGeom prst="roundRect">
            <a:avLst>
              <a:gd name="adj" fmla="val 3390"/>
            </a:avLst>
          </a:prstGeom>
          <a:solidFill>
            <a:srgbClr val="1F3864"/>
          </a:solidFill>
          <a:ln/>
        </p:spPr>
        <p:txBody>
          <a:bodyPr/>
          <a:lstStyle/>
          <a:p>
            <a:endParaRPr lang="en-US"/>
          </a:p>
        </p:txBody>
      </p:sp>
      <p:sp>
        <p:nvSpPr>
          <p:cNvPr id="14" name="Text 8"/>
          <p:cNvSpPr/>
          <p:nvPr/>
        </p:nvSpPr>
        <p:spPr>
          <a:xfrm>
            <a:off x="6438900" y="1868776"/>
            <a:ext cx="21649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Source Sans 3" pitchFamily="34" charset="0"/>
                <a:ea typeface="Source Sans 3" pitchFamily="34" charset="-122"/>
                <a:cs typeface="Source Sans 3" pitchFamily="34" charset="-120"/>
              </a:rPr>
              <a:t>3. Decision</a:t>
            </a:r>
            <a:endParaRPr lang="en-US" sz="1500" dirty="0"/>
          </a:p>
        </p:txBody>
      </p:sp>
      <p:sp>
        <p:nvSpPr>
          <p:cNvPr id="15" name="Text 9"/>
          <p:cNvSpPr/>
          <p:nvPr/>
        </p:nvSpPr>
        <p:spPr>
          <a:xfrm>
            <a:off x="6438900" y="2160876"/>
            <a:ext cx="2164906" cy="69388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E8EEF7"/>
                </a:solidFill>
                <a:latin typeface="Source Sans 3" pitchFamily="34" charset="0"/>
                <a:ea typeface="Source Sans 3" pitchFamily="34" charset="-122"/>
                <a:cs typeface="Source Sans 3" pitchFamily="34" charset="-120"/>
              </a:rPr>
              <a:t>The orchestrator chooses a response using the attack surface</a:t>
            </a:r>
            <a:endParaRPr lang="en-US" sz="1300" dirty="0"/>
          </a:p>
        </p:txBody>
      </p:sp>
      <p:pic>
        <p:nvPicPr>
          <p:cNvPr id="16" name="Image 4" descr="connector"/>
          <p:cNvPicPr>
            <a:picLocks noChangeAspect="1"/>
          </p:cNvPicPr>
          <p:nvPr/>
        </p:nvPicPr>
        <p:blipFill>
          <a:blip r:embed="rId5"/>
          <a:srcRect/>
          <a:stretch/>
        </p:blipFill>
        <p:spPr>
          <a:xfrm>
            <a:off x="8769350" y="2414876"/>
            <a:ext cx="228600" cy="101600"/>
          </a:xfrm>
          <a:prstGeom prst="rect">
            <a:avLst/>
          </a:prstGeom>
        </p:spPr>
      </p:pic>
      <p:sp>
        <p:nvSpPr>
          <p:cNvPr id="17" name="Shape 10"/>
          <p:cNvSpPr/>
          <p:nvPr/>
        </p:nvSpPr>
        <p:spPr>
          <a:xfrm>
            <a:off x="9074150" y="1716376"/>
            <a:ext cx="2406650" cy="1498600"/>
          </a:xfrm>
          <a:prstGeom prst="roundRect">
            <a:avLst>
              <a:gd name="adj" fmla="val 3390"/>
            </a:avLst>
          </a:prstGeom>
          <a:solidFill>
            <a:srgbClr val="2E75B6"/>
          </a:solidFill>
          <a:ln/>
        </p:spPr>
        <p:txBody>
          <a:bodyPr/>
          <a:lstStyle/>
          <a:p>
            <a:endParaRPr lang="en-US"/>
          </a:p>
        </p:txBody>
      </p:sp>
      <p:sp>
        <p:nvSpPr>
          <p:cNvPr id="18" name="Text 11"/>
          <p:cNvSpPr/>
          <p:nvPr/>
        </p:nvSpPr>
        <p:spPr>
          <a:xfrm>
            <a:off x="9226550" y="1868776"/>
            <a:ext cx="21649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Source Sans 3" pitchFamily="34" charset="0"/>
                <a:ea typeface="Source Sans 3" pitchFamily="34" charset="-122"/>
                <a:cs typeface="Source Sans 3" pitchFamily="34" charset="-120"/>
              </a:rPr>
              <a:t>4. Decoy deployment</a:t>
            </a:r>
            <a:endParaRPr lang="en-US" sz="1500" dirty="0"/>
          </a:p>
        </p:txBody>
      </p:sp>
      <p:sp>
        <p:nvSpPr>
          <p:cNvPr id="19" name="Text 12"/>
          <p:cNvSpPr/>
          <p:nvPr/>
        </p:nvSpPr>
        <p:spPr>
          <a:xfrm>
            <a:off x="9226550" y="2160876"/>
            <a:ext cx="2164906"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Source Sans 3" pitchFamily="34" charset="0"/>
                <a:ea typeface="Source Sans 3" pitchFamily="34" charset="-122"/>
                <a:cs typeface="Source Sans 3" pitchFamily="34" charset="-120"/>
              </a:rPr>
              <a:t>An isolated Docker decoy (SSH, web or SQL) is started</a:t>
            </a:r>
            <a:endParaRPr lang="en-US" sz="1300" dirty="0"/>
          </a:p>
        </p:txBody>
      </p:sp>
      <p:sp>
        <p:nvSpPr>
          <p:cNvPr id="20" name="Shape 13"/>
          <p:cNvSpPr/>
          <p:nvPr/>
        </p:nvSpPr>
        <p:spPr>
          <a:xfrm>
            <a:off x="2105025" y="3494376"/>
            <a:ext cx="2406650" cy="1498600"/>
          </a:xfrm>
          <a:prstGeom prst="roundRect">
            <a:avLst>
              <a:gd name="adj" fmla="val 3390"/>
            </a:avLst>
          </a:prstGeom>
          <a:solidFill>
            <a:srgbClr val="2E75B6"/>
          </a:solidFill>
          <a:ln/>
        </p:spPr>
        <p:txBody>
          <a:bodyPr/>
          <a:lstStyle/>
          <a:p>
            <a:endParaRPr lang="en-US"/>
          </a:p>
        </p:txBody>
      </p:sp>
      <p:sp>
        <p:nvSpPr>
          <p:cNvPr id="21" name="Text 14"/>
          <p:cNvSpPr/>
          <p:nvPr/>
        </p:nvSpPr>
        <p:spPr>
          <a:xfrm>
            <a:off x="2257425" y="3646776"/>
            <a:ext cx="21649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Source Sans 3" pitchFamily="34" charset="0"/>
                <a:ea typeface="Source Sans 3" pitchFamily="34" charset="-122"/>
                <a:cs typeface="Source Sans 3" pitchFamily="34" charset="-120"/>
              </a:rPr>
              <a:t>5. Redirection</a:t>
            </a:r>
            <a:endParaRPr lang="en-US" sz="1500" dirty="0"/>
          </a:p>
        </p:txBody>
      </p:sp>
      <p:sp>
        <p:nvSpPr>
          <p:cNvPr id="22" name="Text 15"/>
          <p:cNvSpPr/>
          <p:nvPr/>
        </p:nvSpPr>
        <p:spPr>
          <a:xfrm>
            <a:off x="2257425" y="3938876"/>
            <a:ext cx="2164906"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Source Sans 3" pitchFamily="34" charset="0"/>
                <a:ea typeface="Source Sans 3" pitchFamily="34" charset="-122"/>
                <a:cs typeface="Source Sans 3" pitchFamily="34" charset="-120"/>
              </a:rPr>
              <a:t>DNAT rules send the attacker’s next connections to the decoy</a:t>
            </a:r>
            <a:endParaRPr lang="en-US" sz="1300" dirty="0"/>
          </a:p>
        </p:txBody>
      </p:sp>
      <p:pic>
        <p:nvPicPr>
          <p:cNvPr id="23" name="Image 5" descr="connector"/>
          <p:cNvPicPr>
            <a:picLocks noChangeAspect="1"/>
          </p:cNvPicPr>
          <p:nvPr/>
        </p:nvPicPr>
        <p:blipFill>
          <a:blip r:embed="rId5"/>
          <a:srcRect/>
          <a:stretch/>
        </p:blipFill>
        <p:spPr>
          <a:xfrm>
            <a:off x="4587875" y="4192876"/>
            <a:ext cx="228600" cy="101600"/>
          </a:xfrm>
          <a:prstGeom prst="rect">
            <a:avLst/>
          </a:prstGeom>
        </p:spPr>
      </p:pic>
      <p:sp>
        <p:nvSpPr>
          <p:cNvPr id="24" name="Shape 16"/>
          <p:cNvSpPr/>
          <p:nvPr/>
        </p:nvSpPr>
        <p:spPr>
          <a:xfrm>
            <a:off x="4892675" y="3494376"/>
            <a:ext cx="2406650" cy="1498600"/>
          </a:xfrm>
          <a:prstGeom prst="roundRect">
            <a:avLst>
              <a:gd name="adj" fmla="val 3390"/>
            </a:avLst>
          </a:prstGeom>
          <a:solidFill>
            <a:srgbClr val="2E75B6"/>
          </a:solidFill>
          <a:ln/>
        </p:spPr>
        <p:txBody>
          <a:bodyPr/>
          <a:lstStyle/>
          <a:p>
            <a:endParaRPr lang="en-US"/>
          </a:p>
        </p:txBody>
      </p:sp>
      <p:sp>
        <p:nvSpPr>
          <p:cNvPr id="25" name="Text 17"/>
          <p:cNvSpPr/>
          <p:nvPr/>
        </p:nvSpPr>
        <p:spPr>
          <a:xfrm>
            <a:off x="5045075" y="3646776"/>
            <a:ext cx="225425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Source Sans 3" pitchFamily="34" charset="0"/>
                <a:ea typeface="Source Sans 3" pitchFamily="34" charset="-122"/>
                <a:cs typeface="Source Sans 3" pitchFamily="34" charset="-120"/>
              </a:rPr>
              <a:t>6. Moving Target Defense</a:t>
            </a:r>
            <a:endParaRPr lang="en-US" sz="1500" dirty="0"/>
          </a:p>
        </p:txBody>
      </p:sp>
      <p:sp>
        <p:nvSpPr>
          <p:cNvPr id="26" name="Text 18"/>
          <p:cNvSpPr/>
          <p:nvPr/>
        </p:nvSpPr>
        <p:spPr>
          <a:xfrm>
            <a:off x="5045075" y="3938876"/>
            <a:ext cx="2164906"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Source Sans 3" pitchFamily="34" charset="0"/>
                <a:ea typeface="Source Sans 3" pitchFamily="34" charset="-122"/>
                <a:cs typeface="Source Sans 3" pitchFamily="34" charset="-120"/>
              </a:rPr>
              <a:t>Decoy content changes; host identity stays fixed</a:t>
            </a:r>
            <a:endParaRPr lang="en-US" sz="1300" dirty="0"/>
          </a:p>
        </p:txBody>
      </p:sp>
      <p:pic>
        <p:nvPicPr>
          <p:cNvPr id="27" name="Image 6" descr="connector"/>
          <p:cNvPicPr>
            <a:picLocks noChangeAspect="1"/>
          </p:cNvPicPr>
          <p:nvPr/>
        </p:nvPicPr>
        <p:blipFill>
          <a:blip r:embed="rId5"/>
          <a:srcRect/>
          <a:stretch/>
        </p:blipFill>
        <p:spPr>
          <a:xfrm>
            <a:off x="7375525" y="4192876"/>
            <a:ext cx="228600" cy="101600"/>
          </a:xfrm>
          <a:prstGeom prst="rect">
            <a:avLst/>
          </a:prstGeom>
        </p:spPr>
      </p:pic>
      <p:sp>
        <p:nvSpPr>
          <p:cNvPr id="28" name="Shape 19"/>
          <p:cNvSpPr/>
          <p:nvPr/>
        </p:nvSpPr>
        <p:spPr>
          <a:xfrm>
            <a:off x="7680325" y="3494376"/>
            <a:ext cx="2406650" cy="1498600"/>
          </a:xfrm>
          <a:prstGeom prst="roundRect">
            <a:avLst>
              <a:gd name="adj" fmla="val 3390"/>
            </a:avLst>
          </a:prstGeom>
          <a:solidFill>
            <a:srgbClr val="2E75B6"/>
          </a:solidFill>
          <a:ln/>
        </p:spPr>
        <p:txBody>
          <a:bodyPr/>
          <a:lstStyle/>
          <a:p>
            <a:endParaRPr lang="en-US"/>
          </a:p>
        </p:txBody>
      </p:sp>
      <p:sp>
        <p:nvSpPr>
          <p:cNvPr id="29" name="Text 20"/>
          <p:cNvSpPr/>
          <p:nvPr/>
        </p:nvSpPr>
        <p:spPr>
          <a:xfrm>
            <a:off x="7832725" y="3646776"/>
            <a:ext cx="21649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Source Sans 3" pitchFamily="34" charset="0"/>
                <a:ea typeface="Source Sans 3" pitchFamily="34" charset="-122"/>
                <a:cs typeface="Source Sans 3" pitchFamily="34" charset="-120"/>
              </a:rPr>
              <a:t>7. Logging</a:t>
            </a:r>
            <a:endParaRPr lang="en-US" sz="1500" dirty="0"/>
          </a:p>
        </p:txBody>
      </p:sp>
      <p:sp>
        <p:nvSpPr>
          <p:cNvPr id="30" name="Text 21"/>
          <p:cNvSpPr/>
          <p:nvPr/>
        </p:nvSpPr>
        <p:spPr>
          <a:xfrm>
            <a:off x="7832725" y="3938876"/>
            <a:ext cx="2164906" cy="471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Source Sans 3" pitchFamily="34" charset="0"/>
                <a:ea typeface="Source Sans 3" pitchFamily="34" charset="-122"/>
                <a:cs typeface="Source Sans 3" pitchFamily="34" charset="-120"/>
              </a:rPr>
              <a:t>Every decision and its evidence is stored in SQLite</a:t>
            </a:r>
            <a:endParaRPr lang="en-US" sz="1300" dirty="0"/>
          </a:p>
        </p:txBody>
      </p:sp>
      <p:sp>
        <p:nvSpPr>
          <p:cNvPr id="32" name="Shape 23"/>
          <p:cNvSpPr/>
          <p:nvPr/>
        </p:nvSpPr>
        <p:spPr>
          <a:xfrm>
            <a:off x="711200" y="6235700"/>
            <a:ext cx="10769600" cy="12700"/>
          </a:xfrm>
          <a:prstGeom prst="rect">
            <a:avLst/>
          </a:prstGeom>
          <a:solidFill>
            <a:srgbClr val="D9D9D9"/>
          </a:solidFill>
          <a:ln/>
        </p:spPr>
        <p:txBody>
          <a:bodyPr/>
          <a:lstStyle/>
          <a:p>
            <a:endParaRPr lang="en-US"/>
          </a:p>
        </p:txBody>
      </p:sp>
      <p:sp>
        <p:nvSpPr>
          <p:cNvPr id="33" name="Text 24"/>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34" name="Text 25"/>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1"/>
            <a:ext cx="4028902"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Tools and Technologies</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sp>
        <p:nvSpPr>
          <p:cNvPr id="5" name="Shape 1"/>
          <p:cNvSpPr/>
          <p:nvPr/>
        </p:nvSpPr>
        <p:spPr>
          <a:xfrm>
            <a:off x="711200" y="1884003"/>
            <a:ext cx="10769600" cy="3451875"/>
          </a:xfrm>
          <a:prstGeom prst="rect">
            <a:avLst/>
          </a:prstGeom>
          <a:solidFill>
            <a:srgbClr val="FFFFFF"/>
          </a:solidFill>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20436" y="1893239"/>
          <a:ext cx="10760364" cy="3442635"/>
        </p:xfrm>
        <a:graphic>
          <a:graphicData uri="http://schemas.openxmlformats.org/drawingml/2006/table">
            <a:tbl>
              <a:tblPr/>
              <a:tblGrid>
                <a:gridCol w="2797695">
                  <a:extLst>
                    <a:ext uri="{9D8B030D-6E8A-4147-A177-3AD203B41FA5}">
                      <a16:colId xmlns:a16="http://schemas.microsoft.com/office/drawing/2014/main" val="20000"/>
                    </a:ext>
                  </a:extLst>
                </a:gridCol>
                <a:gridCol w="5595389">
                  <a:extLst>
                    <a:ext uri="{9D8B030D-6E8A-4147-A177-3AD203B41FA5}">
                      <a16:colId xmlns:a16="http://schemas.microsoft.com/office/drawing/2014/main" val="20001"/>
                    </a:ext>
                  </a:extLst>
                </a:gridCol>
                <a:gridCol w="2367280">
                  <a:extLst>
                    <a:ext uri="{9D8B030D-6E8A-4147-A177-3AD203B41FA5}">
                      <a16:colId xmlns:a16="http://schemas.microsoft.com/office/drawing/2014/main" val="20002"/>
                    </a:ext>
                  </a:extLst>
                </a:gridCol>
              </a:tblGrid>
              <a:tr h="382515">
                <a:tc>
                  <a:txBody>
                    <a:bodyPr/>
                    <a:lstStyle/>
                    <a:p>
                      <a:pPr marL="0" indent="0">
                        <a:lnSpc>
                          <a:spcPts val="1960"/>
                        </a:lnSpc>
                        <a:buNone/>
                      </a:pPr>
                      <a:r>
                        <a:rPr lang="en-US" sz="1400" b="1" dirty="0">
                          <a:solidFill>
                            <a:srgbClr val="FFFFFF"/>
                          </a:solidFill>
                          <a:latin typeface="Source Sans 3" pitchFamily="34" charset="0"/>
                          <a:ea typeface="Source Sans 3" pitchFamily="34" charset="-122"/>
                          <a:cs typeface="Source Sans 3" pitchFamily="34" charset="-120"/>
                        </a:rPr>
                        <a:t>Area</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1D305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3052"/>
                      </a:solidFill>
                      <a:prstDash val="solid"/>
                      <a:round/>
                      <a:headEnd type="none" w="med" len="med"/>
                      <a:tailEnd type="none" w="med" len="med"/>
                    </a:lnB>
                    <a:solidFill>
                      <a:srgbClr val="1F3864"/>
                    </a:solidFill>
                  </a:tcPr>
                </a:tc>
                <a:tc>
                  <a:txBody>
                    <a:bodyPr/>
                    <a:lstStyle/>
                    <a:p>
                      <a:pPr marL="0" indent="0">
                        <a:lnSpc>
                          <a:spcPts val="1960"/>
                        </a:lnSpc>
                        <a:buNone/>
                      </a:pPr>
                      <a:r>
                        <a:rPr lang="en-US" sz="1400" b="1" dirty="0">
                          <a:solidFill>
                            <a:srgbClr val="FFFFFF"/>
                          </a:solidFill>
                          <a:latin typeface="Source Sans 3" pitchFamily="34" charset="0"/>
                          <a:ea typeface="Source Sans 3" pitchFamily="34" charset="-122"/>
                          <a:cs typeface="Source Sans 3" pitchFamily="34" charset="-120"/>
                        </a:rPr>
                        <a:t>Tools</a:t>
                      </a:r>
                      <a:endParaRPr lang="en-US" sz="1400" dirty="0">
                        <a:latin typeface="Source Sans 3" charset="0"/>
                        <a:ea typeface="Source Sans 3" charset="0"/>
                        <a:cs typeface="Source Sans 3" charset="0"/>
                      </a:endParaRPr>
                    </a:p>
                  </a:txBody>
                  <a:tcPr marL="62230" marR="62230" marT="62230" marB="62230">
                    <a:lnL w="12700" cap="flat" cmpd="sng" algn="ctr">
                      <a:solidFill>
                        <a:srgbClr val="1D3052"/>
                      </a:solidFill>
                      <a:prstDash val="solid"/>
                      <a:round/>
                      <a:headEnd type="none" w="med" len="med"/>
                      <a:tailEnd type="none" w="med" len="med"/>
                    </a:lnL>
                    <a:lnR w="12700" cap="flat" cmpd="sng" algn="ctr">
                      <a:solidFill>
                        <a:srgbClr val="1D305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3052"/>
                      </a:solidFill>
                      <a:prstDash val="solid"/>
                      <a:round/>
                      <a:headEnd type="none" w="med" len="med"/>
                      <a:tailEnd type="none" w="med" len="med"/>
                    </a:lnB>
                    <a:solidFill>
                      <a:srgbClr val="1F3864"/>
                    </a:solidFill>
                  </a:tcPr>
                </a:tc>
                <a:tc>
                  <a:txBody>
                    <a:bodyPr/>
                    <a:lstStyle/>
                    <a:p>
                      <a:pPr marL="0" indent="0">
                        <a:lnSpc>
                          <a:spcPts val="1960"/>
                        </a:lnSpc>
                        <a:buNone/>
                      </a:pPr>
                      <a:r>
                        <a:rPr lang="en-US" sz="1400" b="1" dirty="0">
                          <a:solidFill>
                            <a:srgbClr val="FFFFFF"/>
                          </a:solidFill>
                          <a:latin typeface="Source Sans 3" pitchFamily="34" charset="0"/>
                          <a:ea typeface="Source Sans 3" pitchFamily="34" charset="-122"/>
                          <a:cs typeface="Source Sans 3" pitchFamily="34" charset="-120"/>
                        </a:rPr>
                        <a:t>Used in</a:t>
                      </a:r>
                      <a:endParaRPr lang="en-US" sz="1400" dirty="0">
                        <a:latin typeface="Source Sans 3" charset="0"/>
                        <a:ea typeface="Source Sans 3" charset="0"/>
                        <a:cs typeface="Source Sans 3" charset="0"/>
                      </a:endParaRPr>
                    </a:p>
                  </a:txBody>
                  <a:tcPr marL="62230" marR="62230" marT="62230" marB="62230">
                    <a:lnL w="12700" cap="flat" cmpd="sng" algn="ctr">
                      <a:solidFill>
                        <a:srgbClr val="1D3052"/>
                      </a:solidFill>
                      <a:prstDash val="solid"/>
                      <a:round/>
                      <a:headEnd type="none" w="med" len="med"/>
                      <a:tailEnd type="none" w="med" len="med"/>
                    </a:lnL>
                    <a:lnR w="12700" cap="flat" cmpd="sng" algn="ctr">
                      <a:solidFill>
                        <a:srgbClr val="1D305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3052"/>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Virtual lab</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305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VMware Workstation, Ubuntu Server 22.04, Kali Linux</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305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Semester</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305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Monitoring and scanning</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Zeek, Nmap</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Semester</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Honeypot</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Cowrie</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Semester</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Machine learning</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Python, pandas, scikit-learn, LightGBM</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Semester and GP1</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Traffic redirection</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iptables (Netfilter)</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Semester and GP1</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Decoys</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Docker, Docker SDK for Python</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GP1</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Content generation</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llama.cpp with a small quantized language model</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GP1</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1C1C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82515">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Database</a:t>
                      </a:r>
                      <a:endParaRPr lang="en-US" sz="1400" dirty="0">
                        <a:latin typeface="Source Sans 3" charset="0"/>
                        <a:ea typeface="Source Sans 3" charset="0"/>
                        <a:cs typeface="Source Sans 3"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SQLite</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262626"/>
                          </a:solidFill>
                          <a:latin typeface="Source Sans 3" pitchFamily="34" charset="0"/>
                          <a:ea typeface="Source Sans 3" pitchFamily="34" charset="-122"/>
                          <a:cs typeface="Source Sans 3" pitchFamily="34" charset="-120"/>
                        </a:rPr>
                        <a:t>GP1</a:t>
                      </a:r>
                      <a:endParaRPr lang="en-US" sz="1400" dirty="0">
                        <a:latin typeface="Source Sans 3" charset="0"/>
                        <a:ea typeface="Source Sans 3" charset="0"/>
                        <a:cs typeface="Source Sans 3" charset="0"/>
                      </a:endParaRPr>
                    </a:p>
                  </a:txBody>
                  <a:tcPr marL="62230" marR="62230" marT="62230" marB="62230">
                    <a:lnL w="12700" cap="flat" cmpd="sng" algn="ctr">
                      <a:solidFill>
                        <a:srgbClr val="C1C1C1"/>
                      </a:solidFill>
                      <a:prstDash val="solid"/>
                      <a:round/>
                      <a:headEnd type="none" w="med" len="med"/>
                      <a:tailEnd type="none" w="med" len="med"/>
                    </a:lnL>
                    <a:lnR w="12700" cap="flat" cmpd="sng" algn="ctr">
                      <a:solidFill>
                        <a:srgbClr val="C1C1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1C1C1"/>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bl>
          </a:graphicData>
        </a:graphic>
      </p:graphicFrame>
      <p:sp>
        <p:nvSpPr>
          <p:cNvPr id="7" name="Shape 2"/>
          <p:cNvSpPr/>
          <p:nvPr/>
        </p:nvSpPr>
        <p:spPr>
          <a:xfrm>
            <a:off x="711200" y="6235700"/>
            <a:ext cx="10769600" cy="12700"/>
          </a:xfrm>
          <a:prstGeom prst="rect">
            <a:avLst/>
          </a:prstGeom>
          <a:solidFill>
            <a:srgbClr val="D9D9D9"/>
          </a:solidFill>
          <a:ln/>
        </p:spPr>
        <p:txBody>
          <a:bodyPr/>
          <a:lstStyle/>
          <a:p>
            <a:endParaRPr lang="en-US"/>
          </a:p>
        </p:txBody>
      </p:sp>
      <p:sp>
        <p:nvSpPr>
          <p:cNvPr id="8" name="Text 3"/>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9" name="Text 4"/>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1"/>
            <a:ext cx="5255549"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Work Completed in GP1 So Far</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sp>
        <p:nvSpPr>
          <p:cNvPr id="5" name="Text 1"/>
          <p:cNvSpPr/>
          <p:nvPr/>
        </p:nvSpPr>
        <p:spPr>
          <a:xfrm>
            <a:off x="711200" y="2113902"/>
            <a:ext cx="5363210"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3864"/>
                </a:solidFill>
                <a:latin typeface="Source Sans 3" pitchFamily="34" charset="0"/>
                <a:ea typeface="Source Sans 3" pitchFamily="34" charset="-122"/>
                <a:cs typeface="Source Sans 3" pitchFamily="34" charset="-120"/>
              </a:rPr>
              <a:t>Research and data</a:t>
            </a:r>
            <a:endParaRPr lang="en-US" sz="1800" dirty="0"/>
          </a:p>
        </p:txBody>
      </p:sp>
      <p:sp>
        <p:nvSpPr>
          <p:cNvPr id="6" name="Text 2"/>
          <p:cNvSpPr/>
          <p:nvPr/>
        </p:nvSpPr>
        <p:spPr>
          <a:xfrm>
            <a:off x="782320" y="2515180"/>
            <a:ext cx="5284470" cy="17399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Literature review of recent studies (2025 to 2026)</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External test sets: COW160x4 (bots) and KYPO (humans)</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Classifier revised: logging errors removed, decision at the third command</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Final model: hard vote of LightGBM, Logistic Regression and SVM, frozen and tested on external data</a:t>
            </a:r>
            <a:endParaRPr lang="en-US" sz="1500" dirty="0"/>
          </a:p>
        </p:txBody>
      </p:sp>
      <p:sp>
        <p:nvSpPr>
          <p:cNvPr id="7" name="Shape 3"/>
          <p:cNvSpPr/>
          <p:nvPr/>
        </p:nvSpPr>
        <p:spPr>
          <a:xfrm>
            <a:off x="6280150" y="2113902"/>
            <a:ext cx="0" cy="2115777"/>
          </a:xfrm>
          <a:prstGeom prst="line">
            <a:avLst/>
          </a:prstGeom>
          <a:noFill/>
          <a:ln w="12700">
            <a:solidFill>
              <a:srgbClr val="D9D9D9"/>
            </a:solidFill>
            <a:prstDash val="solid"/>
          </a:ln>
        </p:spPr>
        <p:txBody>
          <a:bodyPr/>
          <a:lstStyle/>
          <a:p>
            <a:endParaRPr lang="en-US"/>
          </a:p>
        </p:txBody>
      </p:sp>
      <p:sp>
        <p:nvSpPr>
          <p:cNvPr id="8" name="Text 4"/>
          <p:cNvSpPr/>
          <p:nvPr/>
        </p:nvSpPr>
        <p:spPr>
          <a:xfrm>
            <a:off x="6587837" y="2113902"/>
            <a:ext cx="5039753" cy="29967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3864"/>
                </a:solidFill>
                <a:latin typeface="Source Sans 3" pitchFamily="34" charset="0"/>
                <a:ea typeface="Source Sans 3" pitchFamily="34" charset="-122"/>
                <a:cs typeface="Source Sans 3" pitchFamily="34" charset="-120"/>
              </a:rPr>
              <a:t>Software</a:t>
            </a:r>
            <a:endParaRPr lang="en-US" sz="1800" dirty="0"/>
          </a:p>
        </p:txBody>
      </p:sp>
      <p:sp>
        <p:nvSpPr>
          <p:cNvPr id="9" name="Text 5"/>
          <p:cNvSpPr/>
          <p:nvPr/>
        </p:nvSpPr>
        <p:spPr>
          <a:xfrm>
            <a:off x="6658957" y="2515180"/>
            <a:ext cx="4961013" cy="145415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Classifier packaged as a module with a SHA-256 check</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Orchestrator and SQLite database designed</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Cowrie and Zeek logs processed in real time</a:t>
            </a:r>
            <a:endParaRPr lang="en-US" sz="1500" dirty="0"/>
          </a:p>
          <a:p>
            <a:pPr marL="182880" indent="-182880" algn="l">
              <a:lnSpc>
                <a:spcPts val="2250"/>
              </a:lnSpc>
              <a:buSzPct val="100000"/>
              <a:buChar char="•"/>
            </a:pPr>
            <a:r>
              <a:rPr lang="en-US" sz="1500" dirty="0">
                <a:solidFill>
                  <a:srgbClr val="262626"/>
                </a:solidFill>
                <a:latin typeface="Source Sans 3" pitchFamily="34" charset="0"/>
                <a:ea typeface="Source Sans 3" pitchFamily="34" charset="-122"/>
                <a:cs typeface="Source Sans 3" pitchFamily="34" charset="-120"/>
              </a:rPr>
              <a:t>Live classification tested from the Kali machine, with unit tests</a:t>
            </a:r>
            <a:endParaRPr lang="en-US" sz="1500" dirty="0"/>
          </a:p>
        </p:txBody>
      </p:sp>
      <p:sp>
        <p:nvSpPr>
          <p:cNvPr id="10" name="Text 6"/>
          <p:cNvSpPr/>
          <p:nvPr/>
        </p:nvSpPr>
        <p:spPr>
          <a:xfrm>
            <a:off x="711200" y="4534477"/>
            <a:ext cx="10769600" cy="571500"/>
          </a:xfrm>
          <a:prstGeom prst="rect">
            <a:avLst/>
          </a:prstGeom>
          <a:solidFill>
            <a:srgbClr val="DEEBF7"/>
          </a:solidFill>
          <a:ln/>
        </p:spPr>
        <p:txBody>
          <a:bodyPr wrap="square" lIns="254000" tIns="152400" rIns="0" bIns="127000" rtlCol="0" anchor="t">
            <a:normAutofit/>
          </a:bodyPr>
          <a:lstStyle/>
          <a:p>
            <a:pPr marL="0" indent="0" algn="l">
              <a:lnSpc>
                <a:spcPts val="2100"/>
              </a:lnSpc>
              <a:buNone/>
            </a:pPr>
            <a:r>
              <a:rPr lang="en-US" sz="1500" b="1" dirty="0">
                <a:solidFill>
                  <a:srgbClr val="1F3864"/>
                </a:solidFill>
                <a:latin typeface="Source Sans 3" pitchFamily="34" charset="0"/>
                <a:ea typeface="Source Sans 3" pitchFamily="34" charset="-122"/>
                <a:cs typeface="Source Sans 3" pitchFamily="34" charset="-120"/>
              </a:rPr>
              <a:t>Report:</a:t>
            </a:r>
            <a:r>
              <a:rPr lang="en-US" sz="1500" dirty="0">
                <a:solidFill>
                  <a:srgbClr val="1F3864"/>
                </a:solidFill>
                <a:latin typeface="Source Sans 3" pitchFamily="34" charset="0"/>
                <a:ea typeface="Source Sans 3" pitchFamily="34" charset="-122"/>
                <a:cs typeface="Source Sans 3" pitchFamily="34" charset="-120"/>
              </a:rPr>
              <a:t> Introduction, Chapter 1 and Chapter 2 (all diagrams and pseudo-code) are written</a:t>
            </a:r>
            <a:endParaRPr lang="en-US" sz="1500" dirty="0"/>
          </a:p>
        </p:txBody>
      </p:sp>
      <p:sp>
        <p:nvSpPr>
          <p:cNvPr id="11" name="Shape 7"/>
          <p:cNvSpPr/>
          <p:nvPr/>
        </p:nvSpPr>
        <p:spPr>
          <a:xfrm>
            <a:off x="736600" y="4534477"/>
            <a:ext cx="0" cy="571500"/>
          </a:xfrm>
          <a:prstGeom prst="line">
            <a:avLst/>
          </a:prstGeom>
          <a:noFill/>
          <a:ln w="50800">
            <a:solidFill>
              <a:srgbClr val="1F3864"/>
            </a:solidFill>
            <a:prstDash val="solid"/>
          </a:ln>
        </p:spPr>
        <p:txBody>
          <a:bodyPr/>
          <a:lstStyle/>
          <a:p>
            <a:endParaRPr lang="en-US"/>
          </a:p>
        </p:txBody>
      </p:sp>
      <p:sp>
        <p:nvSpPr>
          <p:cNvPr id="12" name="Shape 8"/>
          <p:cNvSpPr/>
          <p:nvPr/>
        </p:nvSpPr>
        <p:spPr>
          <a:xfrm>
            <a:off x="711200" y="6235700"/>
            <a:ext cx="10769600" cy="12700"/>
          </a:xfrm>
          <a:prstGeom prst="rect">
            <a:avLst/>
          </a:prstGeom>
          <a:solidFill>
            <a:srgbClr val="D9D9D9"/>
          </a:solidFill>
          <a:ln/>
        </p:spPr>
        <p:txBody>
          <a:bodyPr/>
          <a:lstStyle/>
          <a:p>
            <a:endParaRPr lang="en-US"/>
          </a:p>
        </p:txBody>
      </p:sp>
      <p:sp>
        <p:nvSpPr>
          <p:cNvPr id="13" name="Text 9"/>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14" name="Text 10"/>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388001"/>
            <a:ext cx="3172778"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Project Plan (GP1)</a:t>
            </a:r>
            <a:endParaRPr lang="en-US" sz="2600" dirty="0"/>
          </a:p>
        </p:txBody>
      </p:sp>
      <p:pic>
        <p:nvPicPr>
          <p:cNvPr id="3" name="Image 0" descr="Syrian Private University logo"/>
          <p:cNvPicPr>
            <a:picLocks noChangeAspect="1"/>
          </p:cNvPicPr>
          <p:nvPr/>
        </p:nvPicPr>
        <p:blipFill>
          <a:blip r:embed="rId3"/>
          <a:srcRect l="-5" r="-5"/>
          <a:stretch/>
        </p:blipFill>
        <p:spPr>
          <a:xfrm>
            <a:off x="10007600" y="355600"/>
            <a:ext cx="1473200" cy="444500"/>
          </a:xfrm>
          <a:prstGeom prst="rect">
            <a:avLst/>
          </a:prstGeom>
        </p:spPr>
      </p:pic>
      <p:pic>
        <p:nvPicPr>
          <p:cNvPr id="4" name="Image 1" descr="line"/>
          <p:cNvPicPr>
            <a:picLocks noChangeAspect="1"/>
          </p:cNvPicPr>
          <p:nvPr/>
        </p:nvPicPr>
        <p:blipFill>
          <a:blip r:embed="rId4"/>
          <a:srcRect/>
          <a:stretch/>
        </p:blipFill>
        <p:spPr>
          <a:xfrm>
            <a:off x="711200" y="977900"/>
            <a:ext cx="10769600" cy="19050"/>
          </a:xfrm>
          <a:prstGeom prst="rect">
            <a:avLst/>
          </a:prstGeom>
        </p:spPr>
      </p:pic>
      <p:sp>
        <p:nvSpPr>
          <p:cNvPr id="5" name="Shape 1"/>
          <p:cNvSpPr/>
          <p:nvPr/>
        </p:nvSpPr>
        <p:spPr>
          <a:xfrm>
            <a:off x="711200" y="1743078"/>
            <a:ext cx="10769600" cy="0"/>
          </a:xfrm>
          <a:prstGeom prst="line">
            <a:avLst/>
          </a:prstGeom>
          <a:noFill/>
          <a:ln w="12700">
            <a:solidFill>
              <a:srgbClr val="1F3864"/>
            </a:solidFill>
            <a:prstDash val="solid"/>
          </a:ln>
        </p:spPr>
        <p:txBody>
          <a:bodyPr/>
          <a:lstStyle/>
          <a:p>
            <a:endParaRPr lang="en-US"/>
          </a:p>
        </p:txBody>
      </p:sp>
      <p:sp>
        <p:nvSpPr>
          <p:cNvPr id="6" name="Text 2"/>
          <p:cNvSpPr/>
          <p:nvPr/>
        </p:nvSpPr>
        <p:spPr>
          <a:xfrm>
            <a:off x="711200" y="1495140"/>
            <a:ext cx="3662680" cy="23870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Task / Week</a:t>
            </a:r>
            <a:endParaRPr lang="en-US" sz="1200" dirty="0"/>
          </a:p>
        </p:txBody>
      </p:sp>
      <p:sp>
        <p:nvSpPr>
          <p:cNvPr id="7" name="Text 3"/>
          <p:cNvSpPr/>
          <p:nvPr/>
        </p:nvSpPr>
        <p:spPr>
          <a:xfrm>
            <a:off x="4241800" y="1495140"/>
            <a:ext cx="566016"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1</a:t>
            </a:r>
            <a:endParaRPr lang="en-US" sz="1200" dirty="0"/>
          </a:p>
        </p:txBody>
      </p:sp>
      <p:sp>
        <p:nvSpPr>
          <p:cNvPr id="8" name="Text 4"/>
          <p:cNvSpPr/>
          <p:nvPr/>
        </p:nvSpPr>
        <p:spPr>
          <a:xfrm>
            <a:off x="4757016" y="1495140"/>
            <a:ext cx="566088"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2</a:t>
            </a:r>
            <a:endParaRPr lang="en-US" sz="1200" dirty="0"/>
          </a:p>
        </p:txBody>
      </p:sp>
      <p:sp>
        <p:nvSpPr>
          <p:cNvPr id="9" name="Text 5"/>
          <p:cNvSpPr/>
          <p:nvPr/>
        </p:nvSpPr>
        <p:spPr>
          <a:xfrm>
            <a:off x="5272304" y="1495140"/>
            <a:ext cx="566016"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3</a:t>
            </a:r>
            <a:endParaRPr lang="en-US" sz="1200" dirty="0"/>
          </a:p>
        </p:txBody>
      </p:sp>
      <p:sp>
        <p:nvSpPr>
          <p:cNvPr id="10" name="Text 6"/>
          <p:cNvSpPr/>
          <p:nvPr/>
        </p:nvSpPr>
        <p:spPr>
          <a:xfrm>
            <a:off x="5787520" y="1495140"/>
            <a:ext cx="566088"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4</a:t>
            </a:r>
            <a:endParaRPr lang="en-US" sz="1200" dirty="0"/>
          </a:p>
        </p:txBody>
      </p:sp>
      <p:sp>
        <p:nvSpPr>
          <p:cNvPr id="11" name="Text 7"/>
          <p:cNvSpPr/>
          <p:nvPr/>
        </p:nvSpPr>
        <p:spPr>
          <a:xfrm>
            <a:off x="6302808" y="1495140"/>
            <a:ext cx="566016"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5</a:t>
            </a:r>
            <a:endParaRPr lang="en-US" sz="1200" dirty="0"/>
          </a:p>
        </p:txBody>
      </p:sp>
      <p:sp>
        <p:nvSpPr>
          <p:cNvPr id="12" name="Text 8"/>
          <p:cNvSpPr/>
          <p:nvPr/>
        </p:nvSpPr>
        <p:spPr>
          <a:xfrm>
            <a:off x="6818024" y="1495140"/>
            <a:ext cx="566088"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6</a:t>
            </a:r>
            <a:endParaRPr lang="en-US" sz="1200" dirty="0"/>
          </a:p>
        </p:txBody>
      </p:sp>
      <p:sp>
        <p:nvSpPr>
          <p:cNvPr id="13" name="Text 9"/>
          <p:cNvSpPr/>
          <p:nvPr/>
        </p:nvSpPr>
        <p:spPr>
          <a:xfrm>
            <a:off x="7333312" y="1495140"/>
            <a:ext cx="566016"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7</a:t>
            </a:r>
            <a:endParaRPr lang="en-US" sz="1200" dirty="0"/>
          </a:p>
        </p:txBody>
      </p:sp>
      <p:sp>
        <p:nvSpPr>
          <p:cNvPr id="14" name="Text 10"/>
          <p:cNvSpPr/>
          <p:nvPr/>
        </p:nvSpPr>
        <p:spPr>
          <a:xfrm>
            <a:off x="7848528" y="1495140"/>
            <a:ext cx="566088"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8</a:t>
            </a:r>
            <a:endParaRPr lang="en-US" sz="1200" dirty="0"/>
          </a:p>
        </p:txBody>
      </p:sp>
      <p:sp>
        <p:nvSpPr>
          <p:cNvPr id="15" name="Text 11"/>
          <p:cNvSpPr/>
          <p:nvPr/>
        </p:nvSpPr>
        <p:spPr>
          <a:xfrm>
            <a:off x="8363816" y="1495140"/>
            <a:ext cx="566088"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9</a:t>
            </a:r>
            <a:endParaRPr lang="en-US" sz="1200" dirty="0"/>
          </a:p>
        </p:txBody>
      </p:sp>
      <p:sp>
        <p:nvSpPr>
          <p:cNvPr id="16" name="Text 12"/>
          <p:cNvSpPr/>
          <p:nvPr/>
        </p:nvSpPr>
        <p:spPr>
          <a:xfrm>
            <a:off x="8879105" y="1495140"/>
            <a:ext cx="566016"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10</a:t>
            </a:r>
            <a:endParaRPr lang="en-US" sz="1200" dirty="0"/>
          </a:p>
        </p:txBody>
      </p:sp>
      <p:sp>
        <p:nvSpPr>
          <p:cNvPr id="17" name="Text 13"/>
          <p:cNvSpPr/>
          <p:nvPr/>
        </p:nvSpPr>
        <p:spPr>
          <a:xfrm>
            <a:off x="9394320" y="1495140"/>
            <a:ext cx="566088"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11</a:t>
            </a:r>
            <a:endParaRPr lang="en-US" sz="1200" dirty="0"/>
          </a:p>
        </p:txBody>
      </p:sp>
      <p:sp>
        <p:nvSpPr>
          <p:cNvPr id="18" name="Text 14"/>
          <p:cNvSpPr/>
          <p:nvPr/>
        </p:nvSpPr>
        <p:spPr>
          <a:xfrm>
            <a:off x="9909608" y="1495140"/>
            <a:ext cx="566016"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12</a:t>
            </a:r>
            <a:endParaRPr lang="en-US" sz="1200" dirty="0"/>
          </a:p>
        </p:txBody>
      </p:sp>
      <p:sp>
        <p:nvSpPr>
          <p:cNvPr id="19" name="Text 15"/>
          <p:cNvSpPr/>
          <p:nvPr/>
        </p:nvSpPr>
        <p:spPr>
          <a:xfrm>
            <a:off x="10424824" y="1495140"/>
            <a:ext cx="566088"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13</a:t>
            </a:r>
            <a:endParaRPr lang="en-US" sz="1200" dirty="0"/>
          </a:p>
        </p:txBody>
      </p:sp>
      <p:sp>
        <p:nvSpPr>
          <p:cNvPr id="20" name="Text 16"/>
          <p:cNvSpPr/>
          <p:nvPr/>
        </p:nvSpPr>
        <p:spPr>
          <a:xfrm>
            <a:off x="10940112" y="1495140"/>
            <a:ext cx="566016" cy="23870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F3864"/>
                </a:solidFill>
                <a:latin typeface="Source Sans 3" pitchFamily="34" charset="0"/>
                <a:ea typeface="Source Sans 3" pitchFamily="34" charset="-122"/>
                <a:cs typeface="Source Sans 3" pitchFamily="34" charset="-120"/>
              </a:rPr>
              <a:t>14</a:t>
            </a:r>
            <a:endParaRPr lang="en-US" sz="1200" dirty="0"/>
          </a:p>
        </p:txBody>
      </p:sp>
      <p:sp>
        <p:nvSpPr>
          <p:cNvPr id="21" name="Shape 17"/>
          <p:cNvSpPr/>
          <p:nvPr/>
        </p:nvSpPr>
        <p:spPr>
          <a:xfrm>
            <a:off x="711200" y="2030268"/>
            <a:ext cx="10769600" cy="0"/>
          </a:xfrm>
          <a:prstGeom prst="line">
            <a:avLst/>
          </a:prstGeom>
          <a:noFill/>
          <a:ln w="6350">
            <a:solidFill>
              <a:srgbClr val="D9D9D9"/>
            </a:solidFill>
            <a:prstDash val="solid"/>
          </a:ln>
        </p:spPr>
        <p:txBody>
          <a:bodyPr/>
          <a:lstStyle/>
          <a:p>
            <a:endParaRPr lang="en-US"/>
          </a:p>
        </p:txBody>
      </p:sp>
      <p:sp>
        <p:nvSpPr>
          <p:cNvPr id="22" name="Text 18"/>
          <p:cNvSpPr/>
          <p:nvPr/>
        </p:nvSpPr>
        <p:spPr>
          <a:xfrm>
            <a:off x="711200" y="1782477"/>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Literature review and Chapter 1</a:t>
            </a:r>
            <a:endParaRPr lang="en-US" sz="1200" dirty="0"/>
          </a:p>
        </p:txBody>
      </p:sp>
      <p:sp>
        <p:nvSpPr>
          <p:cNvPr id="23" name="Text 19"/>
          <p:cNvSpPr/>
          <p:nvPr/>
        </p:nvSpPr>
        <p:spPr>
          <a:xfrm>
            <a:off x="4267200" y="1781175"/>
            <a:ext cx="515216" cy="215900"/>
          </a:xfrm>
          <a:custGeom>
            <a:avLst/>
            <a:gdLst/>
            <a:ahLst/>
            <a:cxnLst/>
            <a:rect l="l" t="t" r="r" b="b"/>
            <a:pathLst>
              <a:path w="515216" h="215900">
                <a:moveTo>
                  <a:pt x="25400" y="0"/>
                </a:moveTo>
                <a:lnTo>
                  <a:pt x="489816" y="0"/>
                </a:lnTo>
                <a:arcTo wR="25400" hR="25400" stAng="16200000" swAng="5400000"/>
                <a:lnTo>
                  <a:pt x="515216" y="190500"/>
                </a:lnTo>
                <a:arcTo wR="25400" hR="25400" stAng="0" swAng="5400000"/>
                <a:lnTo>
                  <a:pt x="25400" y="215900"/>
                </a:lnTo>
                <a:arcTo wR="25400" hR="25400" stAng="5400000" swAng="5400000"/>
                <a:lnTo>
                  <a:pt x="0" y="25400"/>
                </a:lnTo>
                <a:arcTo wR="25400" hR="25400" stAng="10800000" swAng="5400000"/>
                <a:close/>
              </a:path>
            </a:pathLst>
          </a:custGeom>
          <a:solidFill>
            <a:srgbClr val="1F386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Done</a:t>
            </a:r>
            <a:endParaRPr lang="en-US" sz="1200" dirty="0"/>
          </a:p>
        </p:txBody>
      </p:sp>
      <p:sp>
        <p:nvSpPr>
          <p:cNvPr id="24" name="Shape 20"/>
          <p:cNvSpPr/>
          <p:nvPr/>
        </p:nvSpPr>
        <p:spPr>
          <a:xfrm>
            <a:off x="711200" y="2314288"/>
            <a:ext cx="10769600" cy="0"/>
          </a:xfrm>
          <a:prstGeom prst="line">
            <a:avLst/>
          </a:prstGeom>
          <a:noFill/>
          <a:ln w="6350">
            <a:solidFill>
              <a:srgbClr val="D9D9D9"/>
            </a:solidFill>
            <a:prstDash val="solid"/>
          </a:ln>
        </p:spPr>
        <p:txBody>
          <a:bodyPr/>
          <a:lstStyle/>
          <a:p>
            <a:endParaRPr lang="en-US"/>
          </a:p>
        </p:txBody>
      </p:sp>
      <p:sp>
        <p:nvSpPr>
          <p:cNvPr id="25" name="Text 21"/>
          <p:cNvSpPr/>
          <p:nvPr/>
        </p:nvSpPr>
        <p:spPr>
          <a:xfrm>
            <a:off x="711200" y="2066491"/>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Datasets, diagrams and pseudo-code</a:t>
            </a:r>
            <a:endParaRPr lang="en-US" sz="1200" dirty="0"/>
          </a:p>
        </p:txBody>
      </p:sp>
      <p:sp>
        <p:nvSpPr>
          <p:cNvPr id="26" name="Text 22"/>
          <p:cNvSpPr/>
          <p:nvPr/>
        </p:nvSpPr>
        <p:spPr>
          <a:xfrm>
            <a:off x="4782416" y="2065195"/>
            <a:ext cx="515288" cy="215900"/>
          </a:xfrm>
          <a:custGeom>
            <a:avLst/>
            <a:gdLst/>
            <a:ahLst/>
            <a:cxnLst/>
            <a:rect l="l" t="t" r="r" b="b"/>
            <a:pathLst>
              <a:path w="515288" h="215900">
                <a:moveTo>
                  <a:pt x="25400" y="0"/>
                </a:moveTo>
                <a:lnTo>
                  <a:pt x="489888" y="0"/>
                </a:lnTo>
                <a:arcTo wR="25400" hR="25400" stAng="16200000" swAng="5400000"/>
                <a:lnTo>
                  <a:pt x="515288" y="190500"/>
                </a:lnTo>
                <a:arcTo wR="25400" hR="25400" stAng="0" swAng="5400000"/>
                <a:lnTo>
                  <a:pt x="25400" y="215900"/>
                </a:lnTo>
                <a:arcTo wR="25400" hR="25400" stAng="5400000" swAng="5400000"/>
                <a:lnTo>
                  <a:pt x="0" y="25400"/>
                </a:lnTo>
                <a:arcTo wR="25400" hR="25400" stAng="10800000" swAng="5400000"/>
                <a:close/>
              </a:path>
            </a:pathLst>
          </a:custGeom>
          <a:solidFill>
            <a:srgbClr val="1F386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Done</a:t>
            </a:r>
            <a:endParaRPr lang="en-US" sz="1200" dirty="0"/>
          </a:p>
        </p:txBody>
      </p:sp>
      <p:sp>
        <p:nvSpPr>
          <p:cNvPr id="27" name="Shape 23"/>
          <p:cNvSpPr/>
          <p:nvPr/>
        </p:nvSpPr>
        <p:spPr>
          <a:xfrm>
            <a:off x="711200" y="2598308"/>
            <a:ext cx="10769600" cy="0"/>
          </a:xfrm>
          <a:prstGeom prst="line">
            <a:avLst/>
          </a:prstGeom>
          <a:noFill/>
          <a:ln w="6350">
            <a:solidFill>
              <a:srgbClr val="D9D9D9"/>
            </a:solidFill>
            <a:prstDash val="solid"/>
          </a:ln>
        </p:spPr>
        <p:txBody>
          <a:bodyPr/>
          <a:lstStyle/>
          <a:p>
            <a:endParaRPr lang="en-US"/>
          </a:p>
        </p:txBody>
      </p:sp>
      <p:sp>
        <p:nvSpPr>
          <p:cNvPr id="28" name="Text 24"/>
          <p:cNvSpPr/>
          <p:nvPr/>
        </p:nvSpPr>
        <p:spPr>
          <a:xfrm>
            <a:off x="711200" y="2350511"/>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Classifier revision and final model</a:t>
            </a:r>
            <a:endParaRPr lang="en-US" sz="1200" dirty="0"/>
          </a:p>
        </p:txBody>
      </p:sp>
      <p:sp>
        <p:nvSpPr>
          <p:cNvPr id="29" name="Text 25"/>
          <p:cNvSpPr/>
          <p:nvPr/>
        </p:nvSpPr>
        <p:spPr>
          <a:xfrm>
            <a:off x="5297704" y="2349215"/>
            <a:ext cx="515216" cy="215900"/>
          </a:xfrm>
          <a:custGeom>
            <a:avLst/>
            <a:gdLst/>
            <a:ahLst/>
            <a:cxnLst/>
            <a:rect l="l" t="t" r="r" b="b"/>
            <a:pathLst>
              <a:path w="515216" h="215900">
                <a:moveTo>
                  <a:pt x="25400" y="0"/>
                </a:moveTo>
                <a:lnTo>
                  <a:pt x="489816" y="0"/>
                </a:lnTo>
                <a:arcTo wR="25400" hR="25400" stAng="16200000" swAng="5400000"/>
                <a:lnTo>
                  <a:pt x="515216" y="190500"/>
                </a:lnTo>
                <a:arcTo wR="25400" hR="25400" stAng="0" swAng="5400000"/>
                <a:lnTo>
                  <a:pt x="25400" y="215900"/>
                </a:lnTo>
                <a:arcTo wR="25400" hR="25400" stAng="5400000" swAng="5400000"/>
                <a:lnTo>
                  <a:pt x="0" y="25400"/>
                </a:lnTo>
                <a:arcTo wR="25400" hR="25400" stAng="10800000" swAng="5400000"/>
                <a:close/>
              </a:path>
            </a:pathLst>
          </a:custGeom>
          <a:solidFill>
            <a:srgbClr val="1F386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Done</a:t>
            </a:r>
            <a:endParaRPr lang="en-US" sz="1200" dirty="0"/>
          </a:p>
        </p:txBody>
      </p:sp>
      <p:sp>
        <p:nvSpPr>
          <p:cNvPr id="30" name="Shape 26"/>
          <p:cNvSpPr/>
          <p:nvPr/>
        </p:nvSpPr>
        <p:spPr>
          <a:xfrm>
            <a:off x="711200" y="2882322"/>
            <a:ext cx="10769600" cy="0"/>
          </a:xfrm>
          <a:prstGeom prst="line">
            <a:avLst/>
          </a:prstGeom>
          <a:noFill/>
          <a:ln w="6350">
            <a:solidFill>
              <a:srgbClr val="D9D9D9"/>
            </a:solidFill>
            <a:prstDash val="solid"/>
          </a:ln>
        </p:spPr>
        <p:txBody>
          <a:bodyPr/>
          <a:lstStyle/>
          <a:p>
            <a:endParaRPr lang="en-US"/>
          </a:p>
        </p:txBody>
      </p:sp>
      <p:sp>
        <p:nvSpPr>
          <p:cNvPr id="31" name="Text 27"/>
          <p:cNvSpPr/>
          <p:nvPr/>
        </p:nvSpPr>
        <p:spPr>
          <a:xfrm>
            <a:off x="711200" y="2634531"/>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Classifier module and live processing</a:t>
            </a:r>
            <a:endParaRPr lang="en-US" sz="1200" dirty="0"/>
          </a:p>
        </p:txBody>
      </p:sp>
      <p:sp>
        <p:nvSpPr>
          <p:cNvPr id="32" name="Text 28"/>
          <p:cNvSpPr/>
          <p:nvPr/>
        </p:nvSpPr>
        <p:spPr>
          <a:xfrm>
            <a:off x="5812920" y="2633228"/>
            <a:ext cx="515288" cy="215900"/>
          </a:xfrm>
          <a:custGeom>
            <a:avLst/>
            <a:gdLst/>
            <a:ahLst/>
            <a:cxnLst/>
            <a:rect l="l" t="t" r="r" b="b"/>
            <a:pathLst>
              <a:path w="515288" h="215900">
                <a:moveTo>
                  <a:pt x="25400" y="0"/>
                </a:moveTo>
                <a:lnTo>
                  <a:pt x="489888" y="0"/>
                </a:lnTo>
                <a:arcTo wR="25400" hR="25400" stAng="16200000" swAng="5400000"/>
                <a:lnTo>
                  <a:pt x="515288" y="190500"/>
                </a:lnTo>
                <a:arcTo wR="25400" hR="25400" stAng="0" swAng="5400000"/>
                <a:lnTo>
                  <a:pt x="25400" y="215900"/>
                </a:lnTo>
                <a:arcTo wR="25400" hR="25400" stAng="5400000" swAng="5400000"/>
                <a:lnTo>
                  <a:pt x="0" y="25400"/>
                </a:lnTo>
                <a:arcTo wR="25400" hR="25400" stAng="10800000" swAng="5400000"/>
                <a:close/>
              </a:path>
            </a:pathLst>
          </a:custGeom>
          <a:solidFill>
            <a:srgbClr val="1F386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Done</a:t>
            </a:r>
            <a:endParaRPr lang="en-US" sz="1200" dirty="0"/>
          </a:p>
        </p:txBody>
      </p:sp>
      <p:sp>
        <p:nvSpPr>
          <p:cNvPr id="33" name="Shape 29"/>
          <p:cNvSpPr/>
          <p:nvPr/>
        </p:nvSpPr>
        <p:spPr>
          <a:xfrm>
            <a:off x="711200" y="3166341"/>
            <a:ext cx="10769600" cy="0"/>
          </a:xfrm>
          <a:prstGeom prst="line">
            <a:avLst/>
          </a:prstGeom>
          <a:noFill/>
          <a:ln w="6350">
            <a:solidFill>
              <a:srgbClr val="D9D9D9"/>
            </a:solidFill>
            <a:prstDash val="solid"/>
          </a:ln>
        </p:spPr>
        <p:txBody>
          <a:bodyPr/>
          <a:lstStyle/>
          <a:p>
            <a:endParaRPr lang="en-US"/>
          </a:p>
        </p:txBody>
      </p:sp>
      <p:sp>
        <p:nvSpPr>
          <p:cNvPr id="34" name="Text 30"/>
          <p:cNvSpPr/>
          <p:nvPr/>
        </p:nvSpPr>
        <p:spPr>
          <a:xfrm>
            <a:off x="711200" y="2918551"/>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Docker decoy library and hardening</a:t>
            </a:r>
            <a:endParaRPr lang="en-US" sz="1200" dirty="0"/>
          </a:p>
        </p:txBody>
      </p:sp>
      <p:sp>
        <p:nvSpPr>
          <p:cNvPr id="35" name="Text 31"/>
          <p:cNvSpPr/>
          <p:nvPr/>
        </p:nvSpPr>
        <p:spPr>
          <a:xfrm>
            <a:off x="6328208" y="2917248"/>
            <a:ext cx="515216" cy="215900"/>
          </a:xfrm>
          <a:custGeom>
            <a:avLst/>
            <a:gdLst/>
            <a:ahLst/>
            <a:cxnLst/>
            <a:rect l="l" t="t" r="r" b="b"/>
            <a:pathLst>
              <a:path w="515216" h="215900">
                <a:moveTo>
                  <a:pt x="25400" y="0"/>
                </a:moveTo>
                <a:lnTo>
                  <a:pt x="489816" y="0"/>
                </a:lnTo>
                <a:arcTo wR="25400" hR="25400" stAng="16200000" swAng="5400000"/>
                <a:lnTo>
                  <a:pt x="515216" y="190500"/>
                </a:lnTo>
                <a:arcTo wR="25400" hR="25400" stAng="0" swAng="5400000"/>
                <a:lnTo>
                  <a:pt x="25400" y="215900"/>
                </a:lnTo>
                <a:arcTo wR="25400" hR="25400" stAng="5400000" swAng="5400000"/>
                <a:lnTo>
                  <a:pt x="0" y="25400"/>
                </a:lnTo>
                <a:arcTo wR="25400" hR="25400" stAng="10800000" swAng="5400000"/>
                <a:close/>
              </a:path>
            </a:pathLst>
          </a:custGeom>
          <a:solidFill>
            <a:srgbClr val="2E75B6"/>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Source Sans 3" pitchFamily="34" charset="0"/>
                <a:ea typeface="Source Sans 3" pitchFamily="34" charset="-122"/>
                <a:cs typeface="Source Sans 3" pitchFamily="34" charset="-120"/>
              </a:rPr>
              <a:t>Next</a:t>
            </a:r>
            <a:endParaRPr lang="en-US" sz="1200" dirty="0"/>
          </a:p>
        </p:txBody>
      </p:sp>
      <p:sp>
        <p:nvSpPr>
          <p:cNvPr id="36" name="Shape 32"/>
          <p:cNvSpPr/>
          <p:nvPr/>
        </p:nvSpPr>
        <p:spPr>
          <a:xfrm>
            <a:off x="711200" y="3450361"/>
            <a:ext cx="10769600" cy="0"/>
          </a:xfrm>
          <a:prstGeom prst="line">
            <a:avLst/>
          </a:prstGeom>
          <a:noFill/>
          <a:ln w="6350">
            <a:solidFill>
              <a:srgbClr val="D9D9D9"/>
            </a:solidFill>
            <a:prstDash val="solid"/>
          </a:ln>
        </p:spPr>
        <p:txBody>
          <a:bodyPr/>
          <a:lstStyle/>
          <a:p>
            <a:endParaRPr lang="en-US"/>
          </a:p>
        </p:txBody>
      </p:sp>
      <p:sp>
        <p:nvSpPr>
          <p:cNvPr id="37" name="Text 33"/>
          <p:cNvSpPr/>
          <p:nvPr/>
        </p:nvSpPr>
        <p:spPr>
          <a:xfrm>
            <a:off x="711200" y="3202564"/>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Decision engine and self-morphing</a:t>
            </a:r>
            <a:endParaRPr lang="en-US" sz="1200" dirty="0"/>
          </a:p>
        </p:txBody>
      </p:sp>
      <p:sp>
        <p:nvSpPr>
          <p:cNvPr id="38" name="Shape 34"/>
          <p:cNvSpPr/>
          <p:nvPr/>
        </p:nvSpPr>
        <p:spPr>
          <a:xfrm>
            <a:off x="6843424" y="3201268"/>
            <a:ext cx="515288" cy="215900"/>
          </a:xfrm>
          <a:prstGeom prst="roundRect">
            <a:avLst>
              <a:gd name="adj" fmla="val 11765"/>
            </a:avLst>
          </a:prstGeom>
          <a:solidFill>
            <a:srgbClr val="BDD7EE"/>
          </a:solidFill>
          <a:ln/>
        </p:spPr>
        <p:txBody>
          <a:bodyPr/>
          <a:lstStyle/>
          <a:p>
            <a:endParaRPr lang="en-US"/>
          </a:p>
        </p:txBody>
      </p:sp>
      <p:sp>
        <p:nvSpPr>
          <p:cNvPr id="39" name="Shape 35"/>
          <p:cNvSpPr/>
          <p:nvPr/>
        </p:nvSpPr>
        <p:spPr>
          <a:xfrm>
            <a:off x="711200" y="3734381"/>
            <a:ext cx="10769600" cy="0"/>
          </a:xfrm>
          <a:prstGeom prst="line">
            <a:avLst/>
          </a:prstGeom>
          <a:noFill/>
          <a:ln w="6350">
            <a:solidFill>
              <a:srgbClr val="D9D9D9"/>
            </a:solidFill>
            <a:prstDash val="solid"/>
          </a:ln>
        </p:spPr>
        <p:txBody>
          <a:bodyPr/>
          <a:lstStyle/>
          <a:p>
            <a:endParaRPr lang="en-US"/>
          </a:p>
        </p:txBody>
      </p:sp>
      <p:sp>
        <p:nvSpPr>
          <p:cNvPr id="40" name="Text 36"/>
          <p:cNvSpPr/>
          <p:nvPr/>
        </p:nvSpPr>
        <p:spPr>
          <a:xfrm>
            <a:off x="711200" y="3486584"/>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Traffic redirection (DNAT)</a:t>
            </a:r>
            <a:endParaRPr lang="en-US" sz="1200" dirty="0"/>
          </a:p>
        </p:txBody>
      </p:sp>
      <p:sp>
        <p:nvSpPr>
          <p:cNvPr id="41" name="Shape 37"/>
          <p:cNvSpPr/>
          <p:nvPr/>
        </p:nvSpPr>
        <p:spPr>
          <a:xfrm>
            <a:off x="7358712" y="3485288"/>
            <a:ext cx="515216" cy="215900"/>
          </a:xfrm>
          <a:prstGeom prst="roundRect">
            <a:avLst>
              <a:gd name="adj" fmla="val 11765"/>
            </a:avLst>
          </a:prstGeom>
          <a:solidFill>
            <a:srgbClr val="BDD7EE"/>
          </a:solidFill>
          <a:ln/>
        </p:spPr>
        <p:txBody>
          <a:bodyPr/>
          <a:lstStyle/>
          <a:p>
            <a:endParaRPr lang="en-US"/>
          </a:p>
        </p:txBody>
      </p:sp>
      <p:sp>
        <p:nvSpPr>
          <p:cNvPr id="42" name="Shape 38"/>
          <p:cNvSpPr/>
          <p:nvPr/>
        </p:nvSpPr>
        <p:spPr>
          <a:xfrm>
            <a:off x="711200" y="4018395"/>
            <a:ext cx="10769600" cy="0"/>
          </a:xfrm>
          <a:prstGeom prst="line">
            <a:avLst/>
          </a:prstGeom>
          <a:noFill/>
          <a:ln w="6350">
            <a:solidFill>
              <a:srgbClr val="D9D9D9"/>
            </a:solidFill>
            <a:prstDash val="solid"/>
          </a:ln>
        </p:spPr>
        <p:txBody>
          <a:bodyPr/>
          <a:lstStyle/>
          <a:p>
            <a:endParaRPr lang="en-US"/>
          </a:p>
        </p:txBody>
      </p:sp>
      <p:sp>
        <p:nvSpPr>
          <p:cNvPr id="43" name="Text 39"/>
          <p:cNvSpPr/>
          <p:nvPr/>
        </p:nvSpPr>
        <p:spPr>
          <a:xfrm>
            <a:off x="711200" y="3770604"/>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Moving Target Defense</a:t>
            </a:r>
            <a:endParaRPr lang="en-US" sz="1200" dirty="0"/>
          </a:p>
        </p:txBody>
      </p:sp>
      <p:sp>
        <p:nvSpPr>
          <p:cNvPr id="44" name="Shape 40"/>
          <p:cNvSpPr/>
          <p:nvPr/>
        </p:nvSpPr>
        <p:spPr>
          <a:xfrm>
            <a:off x="7873928" y="3769302"/>
            <a:ext cx="515288" cy="215900"/>
          </a:xfrm>
          <a:prstGeom prst="roundRect">
            <a:avLst>
              <a:gd name="adj" fmla="val 11765"/>
            </a:avLst>
          </a:prstGeom>
          <a:solidFill>
            <a:srgbClr val="BDD7EE"/>
          </a:solidFill>
          <a:ln/>
        </p:spPr>
        <p:txBody>
          <a:bodyPr/>
          <a:lstStyle/>
          <a:p>
            <a:endParaRPr lang="en-US"/>
          </a:p>
        </p:txBody>
      </p:sp>
      <p:sp>
        <p:nvSpPr>
          <p:cNvPr id="45" name="Shape 41"/>
          <p:cNvSpPr/>
          <p:nvPr/>
        </p:nvSpPr>
        <p:spPr>
          <a:xfrm>
            <a:off x="711200" y="4302415"/>
            <a:ext cx="10769600" cy="0"/>
          </a:xfrm>
          <a:prstGeom prst="line">
            <a:avLst/>
          </a:prstGeom>
          <a:noFill/>
          <a:ln w="6350">
            <a:solidFill>
              <a:srgbClr val="D9D9D9"/>
            </a:solidFill>
            <a:prstDash val="solid"/>
          </a:ln>
        </p:spPr>
        <p:txBody>
          <a:bodyPr/>
          <a:lstStyle/>
          <a:p>
            <a:endParaRPr lang="en-US"/>
          </a:p>
        </p:txBody>
      </p:sp>
      <p:sp>
        <p:nvSpPr>
          <p:cNvPr id="46" name="Text 42"/>
          <p:cNvSpPr/>
          <p:nvPr/>
        </p:nvSpPr>
        <p:spPr>
          <a:xfrm>
            <a:off x="711200" y="4054624"/>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Content generation (small LLM)</a:t>
            </a:r>
            <a:endParaRPr lang="en-US" sz="1200" dirty="0"/>
          </a:p>
        </p:txBody>
      </p:sp>
      <p:sp>
        <p:nvSpPr>
          <p:cNvPr id="47" name="Shape 43"/>
          <p:cNvSpPr/>
          <p:nvPr/>
        </p:nvSpPr>
        <p:spPr>
          <a:xfrm>
            <a:off x="8389216" y="4053322"/>
            <a:ext cx="515288" cy="215900"/>
          </a:xfrm>
          <a:prstGeom prst="roundRect">
            <a:avLst>
              <a:gd name="adj" fmla="val 11765"/>
            </a:avLst>
          </a:prstGeom>
          <a:solidFill>
            <a:srgbClr val="BDD7EE"/>
          </a:solidFill>
          <a:ln/>
        </p:spPr>
        <p:txBody>
          <a:bodyPr/>
          <a:lstStyle/>
          <a:p>
            <a:endParaRPr lang="en-US"/>
          </a:p>
        </p:txBody>
      </p:sp>
      <p:sp>
        <p:nvSpPr>
          <p:cNvPr id="48" name="Shape 44"/>
          <p:cNvSpPr/>
          <p:nvPr/>
        </p:nvSpPr>
        <p:spPr>
          <a:xfrm>
            <a:off x="711200" y="4586435"/>
            <a:ext cx="10769600" cy="0"/>
          </a:xfrm>
          <a:prstGeom prst="line">
            <a:avLst/>
          </a:prstGeom>
          <a:noFill/>
          <a:ln w="6350">
            <a:solidFill>
              <a:srgbClr val="D9D9D9"/>
            </a:solidFill>
            <a:prstDash val="solid"/>
          </a:ln>
        </p:spPr>
        <p:txBody>
          <a:bodyPr/>
          <a:lstStyle/>
          <a:p>
            <a:endParaRPr lang="en-US"/>
          </a:p>
        </p:txBody>
      </p:sp>
      <p:sp>
        <p:nvSpPr>
          <p:cNvPr id="49" name="Text 45"/>
          <p:cNvSpPr/>
          <p:nvPr/>
        </p:nvSpPr>
        <p:spPr>
          <a:xfrm>
            <a:off x="711200" y="4338638"/>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System integration</a:t>
            </a:r>
            <a:endParaRPr lang="en-US" sz="1200" dirty="0"/>
          </a:p>
        </p:txBody>
      </p:sp>
      <p:sp>
        <p:nvSpPr>
          <p:cNvPr id="50" name="Shape 46"/>
          <p:cNvSpPr/>
          <p:nvPr/>
        </p:nvSpPr>
        <p:spPr>
          <a:xfrm>
            <a:off x="8904505" y="4337341"/>
            <a:ext cx="515216" cy="215900"/>
          </a:xfrm>
          <a:prstGeom prst="roundRect">
            <a:avLst>
              <a:gd name="adj" fmla="val 11765"/>
            </a:avLst>
          </a:prstGeom>
          <a:solidFill>
            <a:srgbClr val="BDD7EE"/>
          </a:solidFill>
          <a:ln/>
        </p:spPr>
        <p:txBody>
          <a:bodyPr/>
          <a:lstStyle/>
          <a:p>
            <a:endParaRPr lang="en-US"/>
          </a:p>
        </p:txBody>
      </p:sp>
      <p:sp>
        <p:nvSpPr>
          <p:cNvPr id="51" name="Shape 47"/>
          <p:cNvSpPr/>
          <p:nvPr/>
        </p:nvSpPr>
        <p:spPr>
          <a:xfrm>
            <a:off x="711200" y="4870455"/>
            <a:ext cx="10769600" cy="0"/>
          </a:xfrm>
          <a:prstGeom prst="line">
            <a:avLst/>
          </a:prstGeom>
          <a:noFill/>
          <a:ln w="6350">
            <a:solidFill>
              <a:srgbClr val="D9D9D9"/>
            </a:solidFill>
            <a:prstDash val="solid"/>
          </a:ln>
        </p:spPr>
        <p:txBody>
          <a:bodyPr/>
          <a:lstStyle/>
          <a:p>
            <a:endParaRPr lang="en-US"/>
          </a:p>
        </p:txBody>
      </p:sp>
      <p:sp>
        <p:nvSpPr>
          <p:cNvPr id="52" name="Text 48"/>
          <p:cNvSpPr/>
          <p:nvPr/>
        </p:nvSpPr>
        <p:spPr>
          <a:xfrm>
            <a:off x="711200" y="4622657"/>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Red team and isolation tests</a:t>
            </a:r>
            <a:endParaRPr lang="en-US" sz="1200" dirty="0"/>
          </a:p>
        </p:txBody>
      </p:sp>
      <p:sp>
        <p:nvSpPr>
          <p:cNvPr id="53" name="Shape 49"/>
          <p:cNvSpPr/>
          <p:nvPr/>
        </p:nvSpPr>
        <p:spPr>
          <a:xfrm>
            <a:off x="9419720" y="4621361"/>
            <a:ext cx="515288" cy="215900"/>
          </a:xfrm>
          <a:prstGeom prst="roundRect">
            <a:avLst>
              <a:gd name="adj" fmla="val 11765"/>
            </a:avLst>
          </a:prstGeom>
          <a:solidFill>
            <a:srgbClr val="BDD7EE"/>
          </a:solidFill>
          <a:ln/>
        </p:spPr>
        <p:txBody>
          <a:bodyPr/>
          <a:lstStyle/>
          <a:p>
            <a:endParaRPr lang="en-US"/>
          </a:p>
        </p:txBody>
      </p:sp>
      <p:sp>
        <p:nvSpPr>
          <p:cNvPr id="54" name="Shape 50"/>
          <p:cNvSpPr/>
          <p:nvPr/>
        </p:nvSpPr>
        <p:spPr>
          <a:xfrm>
            <a:off x="711200" y="5154468"/>
            <a:ext cx="10769600" cy="0"/>
          </a:xfrm>
          <a:prstGeom prst="line">
            <a:avLst/>
          </a:prstGeom>
          <a:noFill/>
          <a:ln w="6350">
            <a:solidFill>
              <a:srgbClr val="D9D9D9"/>
            </a:solidFill>
            <a:prstDash val="solid"/>
          </a:ln>
        </p:spPr>
        <p:txBody>
          <a:bodyPr/>
          <a:lstStyle/>
          <a:p>
            <a:endParaRPr lang="en-US"/>
          </a:p>
        </p:txBody>
      </p:sp>
      <p:sp>
        <p:nvSpPr>
          <p:cNvPr id="55" name="Text 51"/>
          <p:cNvSpPr/>
          <p:nvPr/>
        </p:nvSpPr>
        <p:spPr>
          <a:xfrm>
            <a:off x="711200" y="4906677"/>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Evaluation and experiments</a:t>
            </a:r>
            <a:endParaRPr lang="en-US" sz="1200" dirty="0"/>
          </a:p>
        </p:txBody>
      </p:sp>
      <p:sp>
        <p:nvSpPr>
          <p:cNvPr id="56" name="Shape 52"/>
          <p:cNvSpPr/>
          <p:nvPr/>
        </p:nvSpPr>
        <p:spPr>
          <a:xfrm>
            <a:off x="9935008" y="4905375"/>
            <a:ext cx="515216" cy="215900"/>
          </a:xfrm>
          <a:prstGeom prst="roundRect">
            <a:avLst>
              <a:gd name="adj" fmla="val 11765"/>
            </a:avLst>
          </a:prstGeom>
          <a:solidFill>
            <a:srgbClr val="BDD7EE"/>
          </a:solidFill>
          <a:ln/>
        </p:spPr>
        <p:txBody>
          <a:bodyPr/>
          <a:lstStyle/>
          <a:p>
            <a:endParaRPr lang="en-US"/>
          </a:p>
        </p:txBody>
      </p:sp>
      <p:sp>
        <p:nvSpPr>
          <p:cNvPr id="57" name="Shape 53"/>
          <p:cNvSpPr/>
          <p:nvPr/>
        </p:nvSpPr>
        <p:spPr>
          <a:xfrm>
            <a:off x="711200" y="5438488"/>
            <a:ext cx="10769600" cy="0"/>
          </a:xfrm>
          <a:prstGeom prst="line">
            <a:avLst/>
          </a:prstGeom>
          <a:noFill/>
          <a:ln w="6350">
            <a:solidFill>
              <a:srgbClr val="D9D9D9"/>
            </a:solidFill>
            <a:prstDash val="solid"/>
          </a:ln>
        </p:spPr>
        <p:txBody>
          <a:bodyPr/>
          <a:lstStyle/>
          <a:p>
            <a:endParaRPr lang="en-US"/>
          </a:p>
        </p:txBody>
      </p:sp>
      <p:sp>
        <p:nvSpPr>
          <p:cNvPr id="58" name="Text 54"/>
          <p:cNvSpPr/>
          <p:nvPr/>
        </p:nvSpPr>
        <p:spPr>
          <a:xfrm>
            <a:off x="711200" y="5190691"/>
            <a:ext cx="366268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62626"/>
                </a:solidFill>
                <a:latin typeface="Source Sans 3" pitchFamily="34" charset="0"/>
                <a:ea typeface="Source Sans 3" pitchFamily="34" charset="-122"/>
                <a:cs typeface="Source Sans 3" pitchFamily="34" charset="-120"/>
              </a:rPr>
              <a:t>Chapters 3 and 4, final review</a:t>
            </a:r>
            <a:endParaRPr lang="en-US" sz="1200" dirty="0"/>
          </a:p>
        </p:txBody>
      </p:sp>
      <p:sp>
        <p:nvSpPr>
          <p:cNvPr id="59" name="Shape 55"/>
          <p:cNvSpPr/>
          <p:nvPr/>
        </p:nvSpPr>
        <p:spPr>
          <a:xfrm>
            <a:off x="10450224" y="5189395"/>
            <a:ext cx="1030504" cy="215900"/>
          </a:xfrm>
          <a:prstGeom prst="roundRect">
            <a:avLst>
              <a:gd name="adj" fmla="val 11765"/>
            </a:avLst>
          </a:prstGeom>
          <a:solidFill>
            <a:srgbClr val="BDD7EE"/>
          </a:solidFill>
          <a:ln/>
        </p:spPr>
        <p:txBody>
          <a:bodyPr/>
          <a:lstStyle/>
          <a:p>
            <a:endParaRPr lang="en-US"/>
          </a:p>
        </p:txBody>
      </p:sp>
      <p:sp>
        <p:nvSpPr>
          <p:cNvPr id="61" name="Shape 57"/>
          <p:cNvSpPr/>
          <p:nvPr/>
        </p:nvSpPr>
        <p:spPr>
          <a:xfrm>
            <a:off x="711200" y="6235700"/>
            <a:ext cx="10769600" cy="12700"/>
          </a:xfrm>
          <a:prstGeom prst="rect">
            <a:avLst/>
          </a:prstGeom>
          <a:solidFill>
            <a:srgbClr val="D9D9D9"/>
          </a:solidFill>
          <a:ln/>
        </p:spPr>
        <p:txBody>
          <a:bodyPr/>
          <a:lstStyle/>
          <a:p>
            <a:endParaRPr lang="en-US"/>
          </a:p>
        </p:txBody>
      </p:sp>
      <p:sp>
        <p:nvSpPr>
          <p:cNvPr id="62" name="Text 58"/>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63" name="Text 59"/>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solidFill>
            <a:srgbClr val="1F3864"/>
          </a:solidFill>
          <a:ln/>
        </p:spPr>
        <p:txBody>
          <a:bodyPr/>
          <a:lstStyle/>
          <a:p>
            <a:endParaRPr lang="en-US"/>
          </a:p>
        </p:txBody>
      </p:sp>
      <p:sp>
        <p:nvSpPr>
          <p:cNvPr id="3" name="Shape 1"/>
          <p:cNvSpPr/>
          <p:nvPr/>
        </p:nvSpPr>
        <p:spPr>
          <a:xfrm>
            <a:off x="0" y="6807200"/>
            <a:ext cx="12192000" cy="50800"/>
          </a:xfrm>
          <a:prstGeom prst="rect">
            <a:avLst/>
          </a:prstGeom>
          <a:solidFill>
            <a:srgbClr val="C55A11"/>
          </a:solidFill>
          <a:ln/>
        </p:spPr>
        <p:txBody>
          <a:bodyPr/>
          <a:lstStyle/>
          <a:p>
            <a:endParaRPr lang="en-US"/>
          </a:p>
        </p:txBody>
      </p:sp>
      <p:pic>
        <p:nvPicPr>
          <p:cNvPr id="4" name="Image 0" descr="Syrian Private University logo"/>
          <p:cNvPicPr>
            <a:picLocks noChangeAspect="1"/>
          </p:cNvPicPr>
          <p:nvPr/>
        </p:nvPicPr>
        <p:blipFill>
          <a:blip r:embed="rId3"/>
          <a:srcRect l="-97" r="-97"/>
          <a:stretch/>
        </p:blipFill>
        <p:spPr>
          <a:xfrm>
            <a:off x="5010150" y="1812999"/>
            <a:ext cx="2171700" cy="654050"/>
          </a:xfrm>
          <a:prstGeom prst="rect">
            <a:avLst/>
          </a:prstGeom>
        </p:spPr>
      </p:pic>
      <p:sp>
        <p:nvSpPr>
          <p:cNvPr id="5" name="Text 2"/>
          <p:cNvSpPr>
            <a:spLocks noGrp="1"/>
          </p:cNvSpPr>
          <p:nvPr>
            <p:ph type="title"/>
          </p:nvPr>
        </p:nvSpPr>
        <p:spPr>
          <a:xfrm>
            <a:off x="4550439" y="2924249"/>
            <a:ext cx="3091122" cy="640051"/>
          </a:xfrm>
          <a:prstGeom prst="rect">
            <a:avLst/>
          </a:prstGeom>
          <a:noFill/>
          <a:ln/>
        </p:spPr>
        <p:txBody>
          <a:bodyPr wrap="square" lIns="0" tIns="0" rIns="0" bIns="0" rtlCol="0" anchor="t">
            <a:normAutofit/>
          </a:bodyPr>
          <a:lstStyle/>
          <a:p>
            <a:pPr marL="0" indent="0" algn="ctr">
              <a:lnSpc>
                <a:spcPts val="4840"/>
              </a:lnSpc>
              <a:buNone/>
            </a:pPr>
            <a:r>
              <a:rPr lang="en-US" sz="4400" b="1" i="0" dirty="0">
                <a:solidFill>
                  <a:srgbClr val="1F3864"/>
                </a:solidFill>
                <a:latin typeface="Source Sans 3" pitchFamily="34" charset="0"/>
                <a:ea typeface="Source Sans 3" pitchFamily="34" charset="-122"/>
                <a:cs typeface="Source Sans 3" pitchFamily="34" charset="-120"/>
              </a:rPr>
              <a:t>Thank you</a:t>
            </a:r>
            <a:endParaRPr lang="en-US" sz="4400" dirty="0"/>
          </a:p>
        </p:txBody>
      </p:sp>
      <p:sp>
        <p:nvSpPr>
          <p:cNvPr id="6" name="Text 3"/>
          <p:cNvSpPr/>
          <p:nvPr/>
        </p:nvSpPr>
        <p:spPr>
          <a:xfrm>
            <a:off x="5323176" y="3691297"/>
            <a:ext cx="1545648" cy="416502"/>
          </a:xfrm>
          <a:prstGeom prst="rect">
            <a:avLst/>
          </a:prstGeom>
          <a:noFill/>
          <a:ln/>
        </p:spPr>
        <p:txBody>
          <a:bodyPr wrap="square" lIns="0" tIns="0" rIns="0" bIns="0" rtlCol="0" anchor="t">
            <a:normAutofit/>
          </a:bodyPr>
          <a:lstStyle/>
          <a:p>
            <a:pPr marL="0" indent="0" algn="ctr">
              <a:lnSpc>
                <a:spcPts val="3080"/>
              </a:lnSpc>
              <a:buNone/>
            </a:pPr>
            <a:r>
              <a:rPr lang="en-US" sz="2200" dirty="0">
                <a:solidFill>
                  <a:srgbClr val="595959"/>
                </a:solidFill>
                <a:latin typeface="Source Sans 3" pitchFamily="34" charset="0"/>
                <a:ea typeface="Source Sans 3" pitchFamily="34" charset="-122"/>
                <a:cs typeface="Source Sans 3" pitchFamily="34" charset="-120"/>
              </a:rPr>
              <a:t>Questions?</a:t>
            </a:r>
            <a:endParaRPr lang="en-US" sz="2200" dirty="0"/>
          </a:p>
        </p:txBody>
      </p:sp>
      <p:pic>
        <p:nvPicPr>
          <p:cNvPr id="7" name="Image 1" descr="line"/>
          <p:cNvPicPr>
            <a:picLocks noChangeAspect="1"/>
          </p:cNvPicPr>
          <p:nvPr/>
        </p:nvPicPr>
        <p:blipFill>
          <a:blip r:embed="rId4"/>
          <a:srcRect/>
          <a:stretch/>
        </p:blipFill>
        <p:spPr>
          <a:xfrm>
            <a:off x="5588000" y="4234805"/>
            <a:ext cx="1016000" cy="25400"/>
          </a:xfrm>
          <a:prstGeom prst="rect">
            <a:avLst/>
          </a:prstGeom>
        </p:spPr>
      </p:pic>
      <p:sp>
        <p:nvSpPr>
          <p:cNvPr id="8" name="Text 4"/>
          <p:cNvSpPr/>
          <p:nvPr/>
        </p:nvSpPr>
        <p:spPr>
          <a:xfrm>
            <a:off x="3755534" y="4412605"/>
            <a:ext cx="4680931"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404040"/>
                </a:solidFill>
                <a:latin typeface="Source Sans 3" pitchFamily="34" charset="0"/>
                <a:ea typeface="Source Sans 3" pitchFamily="34" charset="-122"/>
                <a:cs typeface="Source Sans 3" pitchFamily="34" charset="-120"/>
              </a:rPr>
              <a:t>Omar Khaled Abdulkafi</a:t>
            </a:r>
            <a:r>
              <a:rPr lang="ar-SY" sz="1500" dirty="0">
                <a:solidFill>
                  <a:srgbClr val="404040"/>
                </a:solidFill>
                <a:latin typeface="Source Sans 3" pitchFamily="34" charset="0"/>
                <a:ea typeface="Source Sans 3" pitchFamily="34" charset="-122"/>
                <a:cs typeface="Source Sans 3" pitchFamily="34" charset="-120"/>
              </a:rPr>
              <a:t>        </a:t>
            </a:r>
            <a:r>
              <a:rPr lang="en-US" sz="1500" dirty="0">
                <a:solidFill>
                  <a:srgbClr val="404040"/>
                </a:solidFill>
                <a:latin typeface="Source Sans 3" pitchFamily="34" charset="0"/>
                <a:ea typeface="Source Sans 3" pitchFamily="34" charset="-122"/>
                <a:cs typeface="Source Sans 3" pitchFamily="34" charset="-120"/>
              </a:rPr>
              <a:t> Moaz Hassan Al-Dawalibi</a:t>
            </a:r>
            <a:endParaRPr lang="en-US" sz="15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p:nvPr>
        </p:nvSpPr>
        <p:spPr>
          <a:xfrm>
            <a:off x="711200" y="388000"/>
            <a:ext cx="3600000" cy="405101"/>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F3864"/>
                </a:solidFill>
                <a:latin typeface="Source Sans 3" pitchFamily="34" charset="0"/>
                <a:ea typeface="Source Sans 3" pitchFamily="34" charset="-122"/>
                <a:cs typeface="Source Sans 3" pitchFamily="34" charset="-120"/>
              </a:rPr>
              <a:t>References</a:t>
            </a:r>
            <a:endParaRPr lang="en-US" sz="2600" dirty="0"/>
          </a:p>
        </p:txBody>
      </p:sp>
      <p:pic>
        <p:nvPicPr>
          <p:cNvPr id="3" name="Picture 2" descr="image.jpeg"/>
          <p:cNvPicPr>
            <a:picLocks noChangeAspect="1"/>
          </p:cNvPicPr>
          <p:nvPr/>
        </p:nvPicPr>
        <p:blipFill>
          <a:blip r:embed="rId2"/>
          <a:stretch>
            <a:fillRect/>
          </a:stretch>
        </p:blipFill>
        <p:spPr>
          <a:xfrm>
            <a:off x="10007600" y="355600"/>
            <a:ext cx="1473200" cy="444500"/>
          </a:xfrm>
          <a:prstGeom prst="rect">
            <a:avLst/>
          </a:prstGeom>
        </p:spPr>
      </p:pic>
      <p:pic>
        <p:nvPicPr>
          <p:cNvPr id="4" name="Picture 3" descr="image.png"/>
          <p:cNvPicPr>
            <a:picLocks noChangeAspect="1"/>
          </p:cNvPicPr>
          <p:nvPr/>
        </p:nvPicPr>
        <p:blipFill>
          <a:blip r:embed="rId3"/>
          <a:stretch>
            <a:fillRect/>
          </a:stretch>
        </p:blipFill>
        <p:spPr>
          <a:xfrm>
            <a:off x="711200" y="977900"/>
            <a:ext cx="10769600" cy="19050"/>
          </a:xfrm>
          <a:prstGeom prst="rect">
            <a:avLst/>
          </a:prstGeom>
        </p:spPr>
      </p:pic>
      <p:sp>
        <p:nvSpPr>
          <p:cNvPr id="8" name="Shape 3"/>
          <p:cNvSpPr/>
          <p:nvPr/>
        </p:nvSpPr>
        <p:spPr>
          <a:xfrm>
            <a:off x="711200" y="6235700"/>
            <a:ext cx="10769600" cy="12700"/>
          </a:xfrm>
          <a:prstGeom prst="rect">
            <a:avLst/>
          </a:prstGeom>
          <a:solidFill>
            <a:srgbClr val="D9D9D9"/>
          </a:solidFill>
          <a:ln/>
        </p:spPr>
        <p:txBody>
          <a:bodyPr/>
          <a:lstStyle/>
          <a:p>
            <a:endParaRPr lang="en-US"/>
          </a:p>
        </p:txBody>
      </p:sp>
      <p:sp>
        <p:nvSpPr>
          <p:cNvPr id="9" name="Text 4"/>
          <p:cNvSpPr/>
          <p:nvPr/>
        </p:nvSpPr>
        <p:spPr>
          <a:xfrm>
            <a:off x="711200" y="6365298"/>
            <a:ext cx="7848600"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7F7F"/>
                </a:solidFill>
                <a:latin typeface="Source Sans 3" pitchFamily="34" charset="0"/>
                <a:ea typeface="Source Sans 3" pitchFamily="34" charset="-122"/>
                <a:cs typeface="Source Sans 3" pitchFamily="34" charset="-120"/>
              </a:rPr>
              <a:t>Graduation Project 1 | Seminar 1</a:t>
            </a:r>
            <a:endParaRPr lang="en-US" sz="1200" dirty="0"/>
          </a:p>
        </p:txBody>
      </p:sp>
      <p:sp>
        <p:nvSpPr>
          <p:cNvPr id="10" name="Text 5"/>
          <p:cNvSpPr/>
          <p:nvPr/>
        </p:nvSpPr>
        <p:spPr>
          <a:xfrm>
            <a:off x="10414000" y="6365298"/>
            <a:ext cx="1066800" cy="23870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7F7F7F"/>
                </a:solidFill>
                <a:latin typeface="Source Sans 3" pitchFamily="34" charset="0"/>
                <a:ea typeface="Source Sans 3" pitchFamily="34" charset="-122"/>
                <a:cs typeface="Source Sans 3" pitchFamily="34" charset="-120"/>
              </a:rPr>
              <a:t>11</a:t>
            </a:r>
            <a:endParaRPr lang="en-US" sz="1200" dirty="0"/>
          </a:p>
        </p:txBody>
      </p:sp>
      <p:sp>
        <p:nvSpPr>
          <p:cNvPr id="11" name="TextBox 10"/>
          <p:cNvSpPr txBox="1"/>
          <p:nvPr/>
        </p:nvSpPr>
        <p:spPr>
          <a:xfrm>
            <a:off x="711200" y="1280000"/>
            <a:ext cx="10769600" cy="4800000"/>
          </a:xfrm>
          <a:prstGeom prst="rect">
            <a:avLst/>
          </a:prstGeom>
          <a:noFill/>
        </p:spPr>
        <p:txBody>
          <a:bodyPr wrap="square" anchor="t" lIns="0" rIns="0" tIns="0" bIns="0">
            <a:spAutoFit/>
          </a:bodyPr>
          <a:lstStyle/>
          <a:p>
            <a:pPr marL="457200" indent="-457200">
              <a:lnSpc>
                <a:spcPct val="108000"/>
              </a:lnSpc>
              <a:spcAft>
                <a:spcPts val="900"/>
              </a:spcAft>
            </a:pPr>
            <a:r>
              <a:rPr sz="1600" i="0">
                <a:solidFill>
                  <a:srgbClr val="262626"/>
                </a:solidFill>
                <a:latin typeface="Times New Roman"/>
              </a:rPr>
              <a:t>[1]	</a:t>
            </a:r>
            <a:r>
              <a:rPr sz="1600" i="0">
                <a:solidFill>
                  <a:srgbClr val="262626"/>
                </a:solidFill>
                <a:latin typeface="Times New Roman"/>
              </a:rPr>
              <a:t>M. Var Naseri, I. Welch, J. Haseeb, and M. Mansoori, “Q-Cowrie: An adaptive honeypot to analyse attackers’ behaviour,” </a:t>
            </a:r>
            <a:r>
              <a:rPr sz="1600" i="1">
                <a:solidFill>
                  <a:srgbClr val="262626"/>
                </a:solidFill>
                <a:latin typeface="Times New Roman"/>
              </a:rPr>
              <a:t>International Journal of Information Security</a:t>
            </a:r>
            <a:r>
              <a:rPr sz="1600" i="0">
                <a:solidFill>
                  <a:srgbClr val="262626"/>
                </a:solidFill>
                <a:latin typeface="Times New Roman"/>
              </a:rPr>
              <a:t>, vol. 25, no. 2, 2026.</a:t>
            </a:r>
          </a:p>
          <a:p>
            <a:pPr marL="457200" indent="-457200">
              <a:lnSpc>
                <a:spcPct val="108000"/>
              </a:lnSpc>
              <a:spcAft>
                <a:spcPts val="900"/>
              </a:spcAft>
            </a:pPr>
            <a:r>
              <a:rPr sz="1600" i="0">
                <a:solidFill>
                  <a:srgbClr val="262626"/>
                </a:solidFill>
                <a:latin typeface="Times New Roman"/>
              </a:rPr>
              <a:t>[2]	</a:t>
            </a:r>
            <a:r>
              <a:rPr sz="1600" i="0">
                <a:solidFill>
                  <a:srgbClr val="262626"/>
                </a:solidFill>
                <a:latin typeface="Times New Roman"/>
              </a:rPr>
              <a:t>C. Munteanu, Y. B. Suriyanarayanan, G. Smaragdakis, A. Feldmann, and T. Fiebig, “Attacks come to those who wait: Long-term observations in an SSH honeynet,” in </a:t>
            </a:r>
            <a:r>
              <a:rPr sz="1600" i="1">
                <a:solidFill>
                  <a:srgbClr val="262626"/>
                </a:solidFill>
                <a:latin typeface="Times New Roman"/>
              </a:rPr>
              <a:t>Proceedings of the 2025 ACM Internet Measurement Conference (IMC ’25)</a:t>
            </a:r>
            <a:r>
              <a:rPr sz="1600" i="0">
                <a:solidFill>
                  <a:srgbClr val="262626"/>
                </a:solidFill>
                <a:latin typeface="Times New Roman"/>
              </a:rPr>
              <a:t>, Madison, WI, USA, 2025.</a:t>
            </a:r>
          </a:p>
          <a:p>
            <a:pPr marL="457200" indent="-457200">
              <a:lnSpc>
                <a:spcPct val="108000"/>
              </a:lnSpc>
              <a:spcAft>
                <a:spcPts val="900"/>
              </a:spcAft>
            </a:pPr>
            <a:r>
              <a:rPr sz="1600" i="0">
                <a:solidFill>
                  <a:srgbClr val="262626"/>
                </a:solidFill>
                <a:latin typeface="Times New Roman"/>
              </a:rPr>
              <a:t>[3]	</a:t>
            </a:r>
            <a:r>
              <a:rPr sz="1600" i="0">
                <a:solidFill>
                  <a:srgbClr val="262626"/>
                </a:solidFill>
                <a:latin typeface="Times New Roman"/>
              </a:rPr>
              <a:t>M. Mladenov, L. Erdődi, and G. Smaragdakis, “All that glitters is not gold: Uncovering exposed ICS and honeypots in the wild,” in </a:t>
            </a:r>
            <a:r>
              <a:rPr sz="1600" i="1">
                <a:solidFill>
                  <a:srgbClr val="262626"/>
                </a:solidFill>
                <a:latin typeface="Times New Roman"/>
              </a:rPr>
              <a:t>Proceedings of the 2025 IEEE European Symposium on Security and Privacy (EuroS&amp;P)</a:t>
            </a:r>
            <a:r>
              <a:rPr sz="1600" i="0">
                <a:solidFill>
                  <a:srgbClr val="262626"/>
                </a:solidFill>
                <a:latin typeface="Times New Roman"/>
              </a:rPr>
              <a:t>, Venice, Italy, 2025.</a:t>
            </a:r>
          </a:p>
          <a:p>
            <a:pPr marL="457200" indent="-457200">
              <a:lnSpc>
                <a:spcPct val="108000"/>
              </a:lnSpc>
              <a:spcAft>
                <a:spcPts val="900"/>
              </a:spcAft>
            </a:pPr>
            <a:r>
              <a:rPr sz="1600" i="0">
                <a:solidFill>
                  <a:srgbClr val="262626"/>
                </a:solidFill>
                <a:latin typeface="Times New Roman"/>
              </a:rPr>
              <a:t>[4]	</a:t>
            </a:r>
            <a:r>
              <a:rPr sz="1600" i="0">
                <a:solidFill>
                  <a:srgbClr val="262626"/>
                </a:solidFill>
                <a:latin typeface="Times New Roman"/>
              </a:rPr>
              <a:t>M. Shahzad and M. H. Saleh, “Microservice-oriented cyber deception platform with containerized honeypots and real-time telemetry,” </a:t>
            </a:r>
            <a:r>
              <a:rPr sz="1600" i="1">
                <a:solidFill>
                  <a:srgbClr val="262626"/>
                </a:solidFill>
                <a:latin typeface="Times New Roman"/>
              </a:rPr>
              <a:t>Journal of Cybersecurity and Privacy</a:t>
            </a:r>
            <a:r>
              <a:rPr sz="1600" i="0">
                <a:solidFill>
                  <a:srgbClr val="262626"/>
                </a:solidFill>
                <a:latin typeface="Times New Roman"/>
              </a:rPr>
              <a:t>, vol. 6, no. 4, 2026.</a:t>
            </a:r>
          </a:p>
          <a:p>
            <a:pPr marL="457200" indent="-457200">
              <a:lnSpc>
                <a:spcPct val="108000"/>
              </a:lnSpc>
              <a:spcAft>
                <a:spcPts val="900"/>
              </a:spcAft>
            </a:pPr>
            <a:r>
              <a:rPr sz="1600" i="0">
                <a:solidFill>
                  <a:srgbClr val="262626"/>
                </a:solidFill>
                <a:latin typeface="Times New Roman"/>
              </a:rPr>
              <a:t>[5]	</a:t>
            </a:r>
            <a:r>
              <a:rPr sz="1600" i="0">
                <a:solidFill>
                  <a:srgbClr val="262626"/>
                </a:solidFill>
                <a:latin typeface="Times New Roman"/>
              </a:rPr>
              <a:t>P. Malhotra, “LLMHoney: A real-time SSH honeypot with large language model-driven dynamic response generation,” </a:t>
            </a:r>
            <a:r>
              <a:rPr sz="1600" i="1">
                <a:solidFill>
                  <a:srgbClr val="262626"/>
                </a:solidFill>
                <a:latin typeface="Times New Roman"/>
              </a:rPr>
              <a:t>arXiv</a:t>
            </a:r>
            <a:r>
              <a:rPr sz="1600" i="0">
                <a:solidFill>
                  <a:srgbClr val="262626"/>
                </a:solidFill>
                <a:latin typeface="Times New Roman"/>
              </a:rPr>
              <a:t>, 2509.01463, 2025.</a:t>
            </a:r>
          </a:p>
          <a:p>
            <a:pPr marL="457200" indent="-457200">
              <a:lnSpc>
                <a:spcPct val="108000"/>
              </a:lnSpc>
              <a:spcAft>
                <a:spcPts val="900"/>
              </a:spcAft>
            </a:pPr>
            <a:r>
              <a:rPr sz="1600" i="0">
                <a:solidFill>
                  <a:srgbClr val="262626"/>
                </a:solidFill>
                <a:latin typeface="Times New Roman"/>
              </a:rPr>
              <a:t>[6]	</a:t>
            </a:r>
            <a:r>
              <a:rPr sz="1600" i="0">
                <a:solidFill>
                  <a:srgbClr val="262626"/>
                </a:solidFill>
                <a:latin typeface="Times New Roman"/>
              </a:rPr>
              <a:t>M. I. Amin, M. Shen, M. K. Ishak, S. Manickam, and S. Karuppayah, “Enhancing generalization of cross-domain intrusion detection: A heterogeneous deep stacked ensemble approach,” </a:t>
            </a:r>
            <a:r>
              <a:rPr sz="1600" i="1">
                <a:solidFill>
                  <a:srgbClr val="262626"/>
                </a:solidFill>
                <a:latin typeface="Times New Roman"/>
              </a:rPr>
              <a:t>Connection Science</a:t>
            </a:r>
            <a:r>
              <a:rPr sz="1600" i="0">
                <a:solidFill>
                  <a:srgbClr val="262626"/>
                </a:solidFill>
                <a:latin typeface="Times New Roman"/>
              </a:rPr>
              <a:t>, vol. 38, no. 1, 2026.</a:t>
            </a:r>
          </a:p>
        </p:txBody>
      </p:sp>
    </p:spTree>
  </p:cSld>
  <p:clrMapOvr>
    <a:masterClrMapping/>
  </p:clrMapOvr>
</p:sld>
</file>

<file path=ppt/theme/theme1.xml><?xml version="1.0" encoding="utf-8"?>
<a:theme xmlns:a="http://schemas.openxmlformats.org/drawingml/2006/main" name="GP1 Seminar 1: Autonomous Context-Aware Deception Framework">
  <a:themeElements>
    <a:clrScheme name="GP1 Seminar 1: Autonomous Context-Aware Deception Framework">
      <a:dk1>
        <a:srgbClr val="262626"/>
      </a:dk1>
      <a:lt1>
        <a:srgbClr val="FFFFFF"/>
      </a:lt1>
      <a:dk2>
        <a:srgbClr val="5C5C5C"/>
      </a:dk2>
      <a:lt2>
        <a:srgbClr val="E9E9E9"/>
      </a:lt2>
      <a:accent1>
        <a:srgbClr val="1F3864"/>
      </a:accent1>
      <a:accent2>
        <a:srgbClr val="BDD7EE"/>
      </a:accent2>
      <a:accent3>
        <a:srgbClr val="2E75B6"/>
      </a:accent3>
      <a:accent4>
        <a:srgbClr val="C55A11"/>
      </a:accent4>
      <a:accent5>
        <a:srgbClr val="7F7F7F"/>
      </a:accent5>
      <a:accent6>
        <a:srgbClr val="D9D9D9"/>
      </a:accent6>
      <a:hlink>
        <a:srgbClr val="0563C1"/>
      </a:hlink>
      <a:folHlink>
        <a:srgbClr val="954F72"/>
      </a:folHlink>
    </a:clrScheme>
    <a:fontScheme name="GP1 Seminar 1: Autonomous Context-Aware Deception Framework">
      <a:majorFont>
        <a:latin typeface="Source Sans 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1711</Words>
  <Application>Microsoft Office PowerPoint</Application>
  <PresentationFormat>Widescreen</PresentationFormat>
  <Paragraphs>185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Source Sans 3</vt:lpstr>
      <vt:lpstr>GP1 Seminar 1: Autonomous Context-Aware Deception Framework</vt:lpstr>
      <vt:lpstr>Design and Implementation of an Autonomous Context-Aware Deception Framework</vt:lpstr>
      <vt:lpstr>Project Goal</vt:lpstr>
      <vt:lpstr>Literature Review</vt:lpstr>
      <vt:lpstr>Previously Completed Stages (Semester Project)</vt:lpstr>
      <vt:lpstr>System Topology</vt:lpstr>
      <vt:lpstr>Implementation Stages</vt:lpstr>
      <vt:lpstr>Tools and Technologies</vt:lpstr>
      <vt:lpstr>Work Completed in GP1 So Far</vt:lpstr>
      <vt:lpstr>Project Plan (GP1)</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GP1 Seminar 1: Autonomous Context-Aware Deception Framework</dc:title>
  <dc:subject/>
  <dc:creator/>
  <cp:lastModifiedBy>Omar Abdelkafie</cp:lastModifiedBy>
  <cp:revision>2</cp:revision>
  <dcterms:created xsi:type="dcterms:W3CDTF">2026-10-24T23:44:29Z</dcterms:created>
  <dcterms:modified xsi:type="dcterms:W3CDTF">2026-10-24T23:46:42Z</dcterms:modified>
</cp:coreProperties>
</file>